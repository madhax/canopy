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COLD OPEN — before touching the slide: 'Every story about AI right now is the same story, and it's told in the passive voice.' The illustrator is being replaced. The copywriter is being made redundant. The developer's job is being automated. The strange thing about that story is who's telling it — it's not a law of physics, it's a description of who currently owns the machines. Then the flip: the same technology that can do an artist's job for a corporation can do a corporation's job for an artist. This is Canopy. One line: you draw an org chart, and it runs. Not a diagram of a plan — the chart IS the system. BEAT — let the one-liner land. This is the sentence people repeat. (Advance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still §1/§2 bridge) Read the three quotes almost bored — they're wallpaper by now. Point at the passive voice: nobody says WHO is doing the replacing. Land the gold line slowly; it's the thesis of the whole talk. Then ask the room: so what does a corporation actually have that you don't? (Advance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 3:30) §2. Walk the left rows fast: not ideas, not talent, not even money. What they have is ORGANIZATION — 500 specialists pointed at one goal without collapse. Economists have a name for why firms exist: coordination is expensive. Hiring, managing, reviewing, budgeting, unblocking — so costly you must be big to afford it. Scale became a privilege. Artist example verbally: she doesn't lose on art — she loses on the release pipeline, the marketing cadence, the licensing review, the fan support. She has the one thing the corporation has to fake — a voice — and none of the machinery. Closing question: what happens when the machinery becomes something you can just… draw? (Advance ~3:30)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 5:30) §3. Describe the editor like a whiteboard: pick an organization type — software company, creative agency, research lab, newsroom, franchise. That choice gives you a palette of roles. Drag them on, wire who reports to whom, give each a salary. Then hand the ROOT a goal — and it runs. Walk the three left rows. Emphasize: the org chart used to be the most fictional document in the building — the official flow everyone worked around. In Canopy there is no working around it. The structure you draw is the truth of the running system. (Advance ~5:30)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 — a 30-45 second proof beat; steal the time from §4's padding, don't tour the UI.) 'So we're clear this isn't a concept video: this is the phase-one editor, running today.' Point at exactly two things: 1) The trunk node — 160k token salary, warn at 80%, hard stop at the limit. Salary is a first-class field on the node, not a metaphor. 2) Which way the tree grows — the canvas draws organizations bottom-up by default: trunk at the bottom, canopy on top. The product agrees with the pitch. If someone wants to see it live, offer a demo after Q&amp;A. Then advance into 'Why an org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 – 7:30) §4. Acknowledge the objection head-on: isn't the org chart the most corporate artifact imaginable? Two answers. One: 150 years of management practice encoded in that shape — we know how it fails AND how it works. When agent swarms run wild, the failure modes are the exact ones org charts were invented to prevent. Two (more important): everyone in this room can already read one. Slow down for the last line — 'handed back, pointed the other way' is a applause-line beat. (Advance ~7:30)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 – 9:30) §5. Frame: none of this matters if you can't trust it — so these are MECHANICAL rules, not prompts. Row 1: nothing is done by vibes — artifacts or attested actions, accepted against contracts. Row 2: salaries are real token budgets, metered between steps by the runtime itself; a runaway task cannot become a runaway bill. Row 3: approval gates — consequential actions wait for a human. You hold the pen on everything that touches reality. Close with the slide title as the sentence: that's the deal — delegation without abdication. (Advance ~9:30)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 11:30) §6, part 1 — HONESTY BEAT FIRST, it buys credibility for everything after: 'I want to be straight with you — nothing runs end-to-end today. The editor is shipped; the runtime is in progress; I'll show you exactly where it stands at the end.' What IS real today is the catalog: 26 archetypes, 87 roles, 16 formations — written, machine-readable, integrity-checked in CI. The 31 use cases are the ACCEPTANCE SUITE: the contract the runtime is being built to satisfy. House rule: if an ask can't be expressed with the shipped catalog, the catalog is wrong — not the user. Then paint the pictures, future tense: the solo game developer will run an engineering pod — PRs, QA gated behind them, a content machine drafting the launch — while she decides what the game should FEEL like. The researcher without a lab: manuscript drafter structurally blocked until BOTH the lit review and data model are accepted — rigor wired into the team's shape. The community organizer: permit waits for human approval because it spends real money. The newsroom whose fact-check cannot be silently skipped. Land the bottom line verbatim. (Advance ~10:45 — next slide is still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(≈10:45 – 11:30) §6, part 2 — the story this pitch was born from. Slow down. Keep the future tense honest: this is what the catalog is built to give her. The corporation had two hundred people between the art and the world; the artist will have none, and lose nothing. She was the one irreplaceable node in their chart all along. Say 'the moat is shrinking' plainly — no flourish. Pause. (Advance ~11:30)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(11:30 – 13:30) §7, part 1. This is the money slide — earn it with the setup: 'we went through every responsibility a manager holds, across every kind of org in the catalog — thirty duties, six families. That's the job.' Delegation follows the chart, scope drift trips an alarm, progress is observable to the step, acceptance is contract-based, gates route themselves, every token metered. Then the line. IMPORTANT: immediately soften — this is not contempt for managers. Management is real, definable work; that's exactly WHY it can be encoded and delegated. What can't be encoded is wanting something. That bridge takes you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(≈12:45 – 13:30) §7, part 2 — the hopeful turn. Three things stay human by DESIGN, not by limitation: the chart, the pen, the intent. Then flip the decade-old narrative explicitly: automation anxiety said the worker is redundant and whoever owns the org keeps the value. This says: the org is now software — and YOU own one. Deliver the bottom line to the room, not the screen. (Advance ~13:30)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 – 14:30) §8. Paint it: some orgs a single agent, some a hundred-node tree with a nested support center. The moat that protected scale is draining — organization is no longer a privilege of the already-large. Ideas stop dying of logistics. The gap between having a vision and fielding an organization to pursue it collapses to an afternoon with a canvas. Then the closing couplet — slowly. This is the emotional peak; let the silence work. (Advance ~14:30)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 – 15:00) §9. Honest and quick: it's real and it's early. Domain model settled; the editor is built and working today; actuation is in progress; the execution engine is designed in detail. Open source, because a tool whose whole point is redistributing organizational power shouldn't have a gatekeeper. Extensibility beat: roles are data — future catalogs get written by this room. End on the invitation, then stop talking. (15:00)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40F"/>
        </a:solidFill>
      </p:bgPr>
    </p:bg>
    <p:spTree>
      <p:nvGrpSpPr>
        <p:cNvPr id="1" name=""/>
        <p:cNvGrpSpPr/>
        <p:nvPr/>
      </p:nvGrpSpPr>
      <p:grpSpPr>
        <a:xfrm>
          <a:off x="0" y="0"/>
          <a:ext cx="0" cy="0"/>
          <a:chOff x="0" y="0"/>
          <a:chExt cx="0" cy="0"/>
        </a:xfrm>
      </p:grpSpPr>
      <p:sp>
        <p:nvSpPr>
          <p:cNvPr id="2" name="Shape 0"/>
          <p:cNvSpPr/>
          <p:nvPr/>
        </p:nvSpPr>
        <p:spPr>
          <a:xfrm>
            <a:off x="3063240" y="1645920"/>
            <a:ext cx="1508760" cy="292608"/>
          </a:xfrm>
          <a:prstGeom prst="line">
            <a:avLst/>
          </a:prstGeom>
          <a:noFill/>
          <a:ln w="19050">
            <a:solidFill>
              <a:srgbClr val="5B7F52"/>
            </a:solidFill>
            <a:prstDash val="solid"/>
          </a:ln>
        </p:spPr>
      </p:sp>
      <p:sp>
        <p:nvSpPr>
          <p:cNvPr id="3" name="Shape 1"/>
          <p:cNvSpPr/>
          <p:nvPr/>
        </p:nvSpPr>
        <p:spPr>
          <a:xfrm>
            <a:off x="4572000" y="1645920"/>
            <a:ext cx="0" cy="292608"/>
          </a:xfrm>
          <a:prstGeom prst="line">
            <a:avLst/>
          </a:prstGeom>
          <a:noFill/>
          <a:ln w="19050">
            <a:solidFill>
              <a:srgbClr val="5B7F52"/>
            </a:solidFill>
            <a:prstDash val="solid"/>
          </a:ln>
        </p:spPr>
      </p:sp>
      <p:sp>
        <p:nvSpPr>
          <p:cNvPr id="4" name="Shape 2"/>
          <p:cNvSpPr/>
          <p:nvPr/>
        </p:nvSpPr>
        <p:spPr>
          <a:xfrm flipH="1">
            <a:off x="4572000" y="1645920"/>
            <a:ext cx="1508760" cy="292608"/>
          </a:xfrm>
          <a:prstGeom prst="line">
            <a:avLst/>
          </a:prstGeom>
          <a:noFill/>
          <a:ln w="19050">
            <a:solidFill>
              <a:srgbClr val="5B7F52"/>
            </a:solidFill>
            <a:prstDash val="solid"/>
          </a:ln>
        </p:spPr>
      </p:sp>
      <p:sp>
        <p:nvSpPr>
          <p:cNvPr id="5" name="Shape 3"/>
          <p:cNvSpPr/>
          <p:nvPr/>
        </p:nvSpPr>
        <p:spPr>
          <a:xfrm>
            <a:off x="2057400" y="1106424"/>
            <a:ext cx="1005840" cy="283464"/>
          </a:xfrm>
          <a:prstGeom prst="line">
            <a:avLst/>
          </a:prstGeom>
          <a:noFill/>
          <a:ln w="15875">
            <a:solidFill>
              <a:srgbClr val="7FA06B"/>
            </a:solidFill>
            <a:prstDash val="solid"/>
          </a:ln>
        </p:spPr>
      </p:sp>
      <p:sp>
        <p:nvSpPr>
          <p:cNvPr id="6" name="Shape 4"/>
          <p:cNvSpPr/>
          <p:nvPr/>
        </p:nvSpPr>
        <p:spPr>
          <a:xfrm>
            <a:off x="2834640" y="1106424"/>
            <a:ext cx="228600" cy="283464"/>
          </a:xfrm>
          <a:prstGeom prst="line">
            <a:avLst/>
          </a:prstGeom>
          <a:noFill/>
          <a:ln w="15875">
            <a:solidFill>
              <a:srgbClr val="7FA06B"/>
            </a:solidFill>
            <a:prstDash val="solid"/>
          </a:ln>
        </p:spPr>
      </p:sp>
      <p:sp>
        <p:nvSpPr>
          <p:cNvPr id="7" name="Shape 5"/>
          <p:cNvSpPr/>
          <p:nvPr/>
        </p:nvSpPr>
        <p:spPr>
          <a:xfrm flipH="1">
            <a:off x="3063240" y="1106424"/>
            <a:ext cx="548640" cy="283464"/>
          </a:xfrm>
          <a:prstGeom prst="line">
            <a:avLst/>
          </a:prstGeom>
          <a:noFill/>
          <a:ln w="15875">
            <a:solidFill>
              <a:srgbClr val="7FA06B"/>
            </a:solidFill>
            <a:prstDash val="solid"/>
          </a:ln>
        </p:spPr>
      </p:sp>
      <p:sp>
        <p:nvSpPr>
          <p:cNvPr id="8" name="Shape 6"/>
          <p:cNvSpPr/>
          <p:nvPr/>
        </p:nvSpPr>
        <p:spPr>
          <a:xfrm>
            <a:off x="4389120" y="1106424"/>
            <a:ext cx="182880" cy="283464"/>
          </a:xfrm>
          <a:prstGeom prst="line">
            <a:avLst/>
          </a:prstGeom>
          <a:noFill/>
          <a:ln w="15875">
            <a:solidFill>
              <a:srgbClr val="7FA06B"/>
            </a:solidFill>
            <a:prstDash val="solid"/>
          </a:ln>
        </p:spPr>
      </p:sp>
      <p:sp>
        <p:nvSpPr>
          <p:cNvPr id="9" name="Shape 7"/>
          <p:cNvSpPr/>
          <p:nvPr/>
        </p:nvSpPr>
        <p:spPr>
          <a:xfrm flipH="1">
            <a:off x="4572000" y="1106424"/>
            <a:ext cx="548640" cy="283464"/>
          </a:xfrm>
          <a:prstGeom prst="line">
            <a:avLst/>
          </a:prstGeom>
          <a:noFill/>
          <a:ln w="15875">
            <a:solidFill>
              <a:srgbClr val="7FA06B"/>
            </a:solidFill>
            <a:prstDash val="solid"/>
          </a:ln>
        </p:spPr>
      </p:sp>
      <p:sp>
        <p:nvSpPr>
          <p:cNvPr id="10" name="Shape 8"/>
          <p:cNvSpPr/>
          <p:nvPr/>
        </p:nvSpPr>
        <p:spPr>
          <a:xfrm>
            <a:off x="5897880" y="1106424"/>
            <a:ext cx="182880" cy="283464"/>
          </a:xfrm>
          <a:prstGeom prst="line">
            <a:avLst/>
          </a:prstGeom>
          <a:noFill/>
          <a:ln w="15875">
            <a:solidFill>
              <a:srgbClr val="7FA06B"/>
            </a:solidFill>
            <a:prstDash val="solid"/>
          </a:ln>
        </p:spPr>
      </p:sp>
      <p:sp>
        <p:nvSpPr>
          <p:cNvPr id="11" name="Shape 9"/>
          <p:cNvSpPr/>
          <p:nvPr/>
        </p:nvSpPr>
        <p:spPr>
          <a:xfrm flipH="1">
            <a:off x="6080760" y="1106424"/>
            <a:ext cx="548640" cy="283464"/>
          </a:xfrm>
          <a:prstGeom prst="line">
            <a:avLst/>
          </a:prstGeom>
          <a:noFill/>
          <a:ln w="15875">
            <a:solidFill>
              <a:srgbClr val="7FA06B"/>
            </a:solidFill>
            <a:prstDash val="solid"/>
          </a:ln>
        </p:spPr>
      </p:sp>
      <p:sp>
        <p:nvSpPr>
          <p:cNvPr id="12" name="Shape 10"/>
          <p:cNvSpPr/>
          <p:nvPr/>
        </p:nvSpPr>
        <p:spPr>
          <a:xfrm flipH="1">
            <a:off x="6080760" y="1106424"/>
            <a:ext cx="1234440" cy="283464"/>
          </a:xfrm>
          <a:prstGeom prst="line">
            <a:avLst/>
          </a:prstGeom>
          <a:noFill/>
          <a:ln w="15875">
            <a:solidFill>
              <a:srgbClr val="7FA06B"/>
            </a:solidFill>
            <a:prstDash val="solid"/>
          </a:ln>
        </p:spPr>
      </p:sp>
      <p:sp>
        <p:nvSpPr>
          <p:cNvPr id="13" name="Shape 11"/>
          <p:cNvSpPr/>
          <p:nvPr/>
        </p:nvSpPr>
        <p:spPr>
          <a:xfrm>
            <a:off x="1463040" y="548640"/>
            <a:ext cx="594360" cy="320040"/>
          </a:xfrm>
          <a:prstGeom prst="line">
            <a:avLst/>
          </a:prstGeom>
          <a:noFill/>
          <a:ln w="11430">
            <a:solidFill>
              <a:srgbClr val="7FA06B"/>
            </a:solidFill>
            <a:prstDash val="solid"/>
          </a:ln>
        </p:spPr>
      </p:sp>
      <p:sp>
        <p:nvSpPr>
          <p:cNvPr id="14" name="Shape 12"/>
          <p:cNvSpPr/>
          <p:nvPr/>
        </p:nvSpPr>
        <p:spPr>
          <a:xfrm>
            <a:off x="1938528" y="548640"/>
            <a:ext cx="118872" cy="320040"/>
          </a:xfrm>
          <a:prstGeom prst="line">
            <a:avLst/>
          </a:prstGeom>
          <a:noFill/>
          <a:ln w="11430">
            <a:solidFill>
              <a:srgbClr val="7FA06B"/>
            </a:solidFill>
            <a:prstDash val="solid"/>
          </a:ln>
        </p:spPr>
      </p:sp>
      <p:sp>
        <p:nvSpPr>
          <p:cNvPr id="15" name="Shape 13"/>
          <p:cNvSpPr/>
          <p:nvPr/>
        </p:nvSpPr>
        <p:spPr>
          <a:xfrm flipH="1">
            <a:off x="2057400" y="548640"/>
            <a:ext cx="356616" cy="320040"/>
          </a:xfrm>
          <a:prstGeom prst="line">
            <a:avLst/>
          </a:prstGeom>
          <a:noFill/>
          <a:ln w="11430">
            <a:solidFill>
              <a:srgbClr val="7FA06B"/>
            </a:solidFill>
            <a:prstDash val="solid"/>
          </a:ln>
        </p:spPr>
      </p:sp>
      <p:sp>
        <p:nvSpPr>
          <p:cNvPr id="16" name="Shape 14"/>
          <p:cNvSpPr/>
          <p:nvPr/>
        </p:nvSpPr>
        <p:spPr>
          <a:xfrm flipH="1">
            <a:off x="2834640" y="548640"/>
            <a:ext cx="54864" cy="320040"/>
          </a:xfrm>
          <a:prstGeom prst="line">
            <a:avLst/>
          </a:prstGeom>
          <a:noFill/>
          <a:ln w="11430">
            <a:solidFill>
              <a:srgbClr val="7FA06B"/>
            </a:solidFill>
            <a:prstDash val="solid"/>
          </a:ln>
        </p:spPr>
      </p:sp>
      <p:sp>
        <p:nvSpPr>
          <p:cNvPr id="17" name="Shape 15"/>
          <p:cNvSpPr/>
          <p:nvPr/>
        </p:nvSpPr>
        <p:spPr>
          <a:xfrm>
            <a:off x="3364992" y="548640"/>
            <a:ext cx="246888" cy="320040"/>
          </a:xfrm>
          <a:prstGeom prst="line">
            <a:avLst/>
          </a:prstGeom>
          <a:noFill/>
          <a:ln w="11430">
            <a:solidFill>
              <a:srgbClr val="7FA06B"/>
            </a:solidFill>
            <a:prstDash val="solid"/>
          </a:ln>
        </p:spPr>
      </p:sp>
      <p:sp>
        <p:nvSpPr>
          <p:cNvPr id="18" name="Shape 16"/>
          <p:cNvSpPr/>
          <p:nvPr/>
        </p:nvSpPr>
        <p:spPr>
          <a:xfrm flipH="1">
            <a:off x="3611880" y="548640"/>
            <a:ext cx="228600" cy="320040"/>
          </a:xfrm>
          <a:prstGeom prst="line">
            <a:avLst/>
          </a:prstGeom>
          <a:noFill/>
          <a:ln w="11430">
            <a:solidFill>
              <a:srgbClr val="7FA06B"/>
            </a:solidFill>
            <a:prstDash val="solid"/>
          </a:ln>
        </p:spPr>
      </p:sp>
      <p:sp>
        <p:nvSpPr>
          <p:cNvPr id="19" name="Shape 17"/>
          <p:cNvSpPr/>
          <p:nvPr/>
        </p:nvSpPr>
        <p:spPr>
          <a:xfrm>
            <a:off x="4315968" y="548640"/>
            <a:ext cx="73152" cy="320040"/>
          </a:xfrm>
          <a:prstGeom prst="line">
            <a:avLst/>
          </a:prstGeom>
          <a:noFill/>
          <a:ln w="11430">
            <a:solidFill>
              <a:srgbClr val="7FA06B"/>
            </a:solidFill>
            <a:prstDash val="solid"/>
          </a:ln>
        </p:spPr>
      </p:sp>
      <p:sp>
        <p:nvSpPr>
          <p:cNvPr id="20" name="Shape 18"/>
          <p:cNvSpPr/>
          <p:nvPr/>
        </p:nvSpPr>
        <p:spPr>
          <a:xfrm>
            <a:off x="4791456" y="548640"/>
            <a:ext cx="329184" cy="320040"/>
          </a:xfrm>
          <a:prstGeom prst="line">
            <a:avLst/>
          </a:prstGeom>
          <a:noFill/>
          <a:ln w="11430">
            <a:solidFill>
              <a:srgbClr val="7FA06B"/>
            </a:solidFill>
            <a:prstDash val="solid"/>
          </a:ln>
        </p:spPr>
      </p:sp>
      <p:sp>
        <p:nvSpPr>
          <p:cNvPr id="21" name="Shape 19"/>
          <p:cNvSpPr/>
          <p:nvPr/>
        </p:nvSpPr>
        <p:spPr>
          <a:xfrm flipH="1">
            <a:off x="5120640" y="548640"/>
            <a:ext cx="146304" cy="320040"/>
          </a:xfrm>
          <a:prstGeom prst="line">
            <a:avLst/>
          </a:prstGeom>
          <a:noFill/>
          <a:ln w="11430">
            <a:solidFill>
              <a:srgbClr val="7FA06B"/>
            </a:solidFill>
            <a:prstDash val="solid"/>
          </a:ln>
        </p:spPr>
      </p:sp>
      <p:sp>
        <p:nvSpPr>
          <p:cNvPr id="22" name="Shape 20"/>
          <p:cNvSpPr/>
          <p:nvPr/>
        </p:nvSpPr>
        <p:spPr>
          <a:xfrm>
            <a:off x="5742432" y="548640"/>
            <a:ext cx="155448" cy="320040"/>
          </a:xfrm>
          <a:prstGeom prst="line">
            <a:avLst/>
          </a:prstGeom>
          <a:noFill/>
          <a:ln w="11430">
            <a:solidFill>
              <a:srgbClr val="7FA06B"/>
            </a:solidFill>
            <a:prstDash val="solid"/>
          </a:ln>
        </p:spPr>
      </p:sp>
      <p:sp>
        <p:nvSpPr>
          <p:cNvPr id="23" name="Shape 21"/>
          <p:cNvSpPr/>
          <p:nvPr/>
        </p:nvSpPr>
        <p:spPr>
          <a:xfrm flipH="1">
            <a:off x="5897880" y="548640"/>
            <a:ext cx="320040" cy="320040"/>
          </a:xfrm>
          <a:prstGeom prst="line">
            <a:avLst/>
          </a:prstGeom>
          <a:noFill/>
          <a:ln w="11430">
            <a:solidFill>
              <a:srgbClr val="7FA06B"/>
            </a:solidFill>
            <a:prstDash val="solid"/>
          </a:ln>
        </p:spPr>
      </p:sp>
      <p:sp>
        <p:nvSpPr>
          <p:cNvPr id="24" name="Shape 22"/>
          <p:cNvSpPr/>
          <p:nvPr/>
        </p:nvSpPr>
        <p:spPr>
          <a:xfrm flipH="1">
            <a:off x="6629400" y="548640"/>
            <a:ext cx="64008" cy="320040"/>
          </a:xfrm>
          <a:prstGeom prst="line">
            <a:avLst/>
          </a:prstGeom>
          <a:noFill/>
          <a:ln w="11430">
            <a:solidFill>
              <a:srgbClr val="7FA06B"/>
            </a:solidFill>
            <a:prstDash val="solid"/>
          </a:ln>
        </p:spPr>
      </p:sp>
      <p:sp>
        <p:nvSpPr>
          <p:cNvPr id="25" name="Shape 23"/>
          <p:cNvSpPr/>
          <p:nvPr/>
        </p:nvSpPr>
        <p:spPr>
          <a:xfrm>
            <a:off x="7168896" y="548640"/>
            <a:ext cx="146304" cy="320040"/>
          </a:xfrm>
          <a:prstGeom prst="line">
            <a:avLst/>
          </a:prstGeom>
          <a:noFill/>
          <a:ln w="11430">
            <a:solidFill>
              <a:srgbClr val="7FA06B"/>
            </a:solidFill>
            <a:prstDash val="solid"/>
          </a:ln>
        </p:spPr>
      </p:sp>
      <p:sp>
        <p:nvSpPr>
          <p:cNvPr id="26" name="Shape 24"/>
          <p:cNvSpPr/>
          <p:nvPr/>
        </p:nvSpPr>
        <p:spPr>
          <a:xfrm flipH="1">
            <a:off x="7315200" y="548640"/>
            <a:ext cx="329184" cy="320040"/>
          </a:xfrm>
          <a:prstGeom prst="line">
            <a:avLst/>
          </a:prstGeom>
          <a:noFill/>
          <a:ln w="11430">
            <a:solidFill>
              <a:srgbClr val="7FA06B"/>
            </a:solidFill>
            <a:prstDash val="solid"/>
          </a:ln>
        </p:spPr>
      </p:sp>
      <p:sp>
        <p:nvSpPr>
          <p:cNvPr id="27" name="Shape 25"/>
          <p:cNvSpPr/>
          <p:nvPr/>
        </p:nvSpPr>
        <p:spPr>
          <a:xfrm>
            <a:off x="1289304" y="347472"/>
            <a:ext cx="347472" cy="201168"/>
          </a:xfrm>
          <a:prstGeom prst="roundRect">
            <a:avLst>
              <a:gd name="adj" fmla="val 27273"/>
            </a:avLst>
          </a:prstGeom>
          <a:solidFill>
            <a:srgbClr val="B7D89A"/>
          </a:solidFill>
          <a:ln/>
        </p:spPr>
      </p:sp>
      <p:sp>
        <p:nvSpPr>
          <p:cNvPr id="28" name="Shape 26"/>
          <p:cNvSpPr/>
          <p:nvPr/>
        </p:nvSpPr>
        <p:spPr>
          <a:xfrm>
            <a:off x="1764792" y="347472"/>
            <a:ext cx="347472" cy="201168"/>
          </a:xfrm>
          <a:prstGeom prst="roundRect">
            <a:avLst>
              <a:gd name="adj" fmla="val 27273"/>
            </a:avLst>
          </a:prstGeom>
          <a:solidFill>
            <a:srgbClr val="B7D89A"/>
          </a:solidFill>
          <a:ln/>
        </p:spPr>
      </p:sp>
      <p:sp>
        <p:nvSpPr>
          <p:cNvPr id="29" name="Shape 27"/>
          <p:cNvSpPr/>
          <p:nvPr/>
        </p:nvSpPr>
        <p:spPr>
          <a:xfrm>
            <a:off x="2240280" y="347472"/>
            <a:ext cx="347472" cy="201168"/>
          </a:xfrm>
          <a:prstGeom prst="roundRect">
            <a:avLst>
              <a:gd name="adj" fmla="val 27273"/>
            </a:avLst>
          </a:prstGeom>
          <a:solidFill>
            <a:srgbClr val="B7D89A"/>
          </a:solidFill>
          <a:ln/>
        </p:spPr>
      </p:sp>
      <p:sp>
        <p:nvSpPr>
          <p:cNvPr id="30" name="Shape 28"/>
          <p:cNvSpPr/>
          <p:nvPr/>
        </p:nvSpPr>
        <p:spPr>
          <a:xfrm>
            <a:off x="2715768" y="347472"/>
            <a:ext cx="347472" cy="201168"/>
          </a:xfrm>
          <a:prstGeom prst="roundRect">
            <a:avLst>
              <a:gd name="adj" fmla="val 27273"/>
            </a:avLst>
          </a:prstGeom>
          <a:solidFill>
            <a:srgbClr val="B7D89A"/>
          </a:solidFill>
          <a:ln/>
        </p:spPr>
      </p:sp>
      <p:sp>
        <p:nvSpPr>
          <p:cNvPr id="31" name="Shape 29"/>
          <p:cNvSpPr/>
          <p:nvPr/>
        </p:nvSpPr>
        <p:spPr>
          <a:xfrm>
            <a:off x="3191256" y="347472"/>
            <a:ext cx="347472" cy="201168"/>
          </a:xfrm>
          <a:prstGeom prst="roundRect">
            <a:avLst>
              <a:gd name="adj" fmla="val 27273"/>
            </a:avLst>
          </a:prstGeom>
          <a:solidFill>
            <a:srgbClr val="B7D89A"/>
          </a:solidFill>
          <a:ln/>
        </p:spPr>
      </p:sp>
      <p:sp>
        <p:nvSpPr>
          <p:cNvPr id="32" name="Shape 30"/>
          <p:cNvSpPr/>
          <p:nvPr/>
        </p:nvSpPr>
        <p:spPr>
          <a:xfrm>
            <a:off x="3666744" y="347472"/>
            <a:ext cx="347472" cy="201168"/>
          </a:xfrm>
          <a:prstGeom prst="roundRect">
            <a:avLst>
              <a:gd name="adj" fmla="val 27273"/>
            </a:avLst>
          </a:prstGeom>
          <a:solidFill>
            <a:srgbClr val="B7D89A"/>
          </a:solidFill>
          <a:ln/>
        </p:spPr>
      </p:sp>
      <p:sp>
        <p:nvSpPr>
          <p:cNvPr id="33" name="Shape 31"/>
          <p:cNvSpPr/>
          <p:nvPr/>
        </p:nvSpPr>
        <p:spPr>
          <a:xfrm>
            <a:off x="4142232" y="347472"/>
            <a:ext cx="347472" cy="201168"/>
          </a:xfrm>
          <a:prstGeom prst="roundRect">
            <a:avLst>
              <a:gd name="adj" fmla="val 27273"/>
            </a:avLst>
          </a:prstGeom>
          <a:solidFill>
            <a:srgbClr val="B7D89A"/>
          </a:solidFill>
          <a:ln/>
        </p:spPr>
      </p:sp>
      <p:sp>
        <p:nvSpPr>
          <p:cNvPr id="34" name="Shape 32"/>
          <p:cNvSpPr/>
          <p:nvPr/>
        </p:nvSpPr>
        <p:spPr>
          <a:xfrm>
            <a:off x="4617720" y="347472"/>
            <a:ext cx="347472" cy="201168"/>
          </a:xfrm>
          <a:prstGeom prst="roundRect">
            <a:avLst>
              <a:gd name="adj" fmla="val 27273"/>
            </a:avLst>
          </a:prstGeom>
          <a:solidFill>
            <a:srgbClr val="B7D89A"/>
          </a:solidFill>
          <a:ln/>
        </p:spPr>
      </p:sp>
      <p:sp>
        <p:nvSpPr>
          <p:cNvPr id="35" name="Shape 33"/>
          <p:cNvSpPr/>
          <p:nvPr/>
        </p:nvSpPr>
        <p:spPr>
          <a:xfrm>
            <a:off x="5093208" y="347472"/>
            <a:ext cx="347472" cy="201168"/>
          </a:xfrm>
          <a:prstGeom prst="roundRect">
            <a:avLst>
              <a:gd name="adj" fmla="val 27273"/>
            </a:avLst>
          </a:prstGeom>
          <a:solidFill>
            <a:srgbClr val="B7D89A"/>
          </a:solidFill>
          <a:ln/>
        </p:spPr>
      </p:sp>
      <p:sp>
        <p:nvSpPr>
          <p:cNvPr id="36" name="Shape 34"/>
          <p:cNvSpPr/>
          <p:nvPr/>
        </p:nvSpPr>
        <p:spPr>
          <a:xfrm>
            <a:off x="5568696" y="347472"/>
            <a:ext cx="347472" cy="201168"/>
          </a:xfrm>
          <a:prstGeom prst="roundRect">
            <a:avLst>
              <a:gd name="adj" fmla="val 27273"/>
            </a:avLst>
          </a:prstGeom>
          <a:solidFill>
            <a:srgbClr val="B7D89A"/>
          </a:solidFill>
          <a:ln/>
        </p:spPr>
      </p:sp>
      <p:sp>
        <p:nvSpPr>
          <p:cNvPr id="37" name="Shape 35"/>
          <p:cNvSpPr/>
          <p:nvPr/>
        </p:nvSpPr>
        <p:spPr>
          <a:xfrm>
            <a:off x="6044184" y="347472"/>
            <a:ext cx="347472" cy="201168"/>
          </a:xfrm>
          <a:prstGeom prst="roundRect">
            <a:avLst>
              <a:gd name="adj" fmla="val 27273"/>
            </a:avLst>
          </a:prstGeom>
          <a:solidFill>
            <a:srgbClr val="B7D89A"/>
          </a:solidFill>
          <a:ln/>
        </p:spPr>
      </p:sp>
      <p:sp>
        <p:nvSpPr>
          <p:cNvPr id="38" name="Shape 36"/>
          <p:cNvSpPr/>
          <p:nvPr/>
        </p:nvSpPr>
        <p:spPr>
          <a:xfrm>
            <a:off x="6519672" y="347472"/>
            <a:ext cx="347472" cy="201168"/>
          </a:xfrm>
          <a:prstGeom prst="roundRect">
            <a:avLst>
              <a:gd name="adj" fmla="val 27273"/>
            </a:avLst>
          </a:prstGeom>
          <a:solidFill>
            <a:srgbClr val="B7D89A"/>
          </a:solidFill>
          <a:ln/>
        </p:spPr>
      </p:sp>
      <p:sp>
        <p:nvSpPr>
          <p:cNvPr id="39" name="Shape 37"/>
          <p:cNvSpPr/>
          <p:nvPr/>
        </p:nvSpPr>
        <p:spPr>
          <a:xfrm>
            <a:off x="6995160" y="347472"/>
            <a:ext cx="347472" cy="201168"/>
          </a:xfrm>
          <a:prstGeom prst="roundRect">
            <a:avLst>
              <a:gd name="adj" fmla="val 27273"/>
            </a:avLst>
          </a:prstGeom>
          <a:solidFill>
            <a:srgbClr val="B7D89A"/>
          </a:solidFill>
          <a:ln/>
        </p:spPr>
      </p:sp>
      <p:sp>
        <p:nvSpPr>
          <p:cNvPr id="40" name="Shape 38"/>
          <p:cNvSpPr/>
          <p:nvPr/>
        </p:nvSpPr>
        <p:spPr>
          <a:xfrm>
            <a:off x="7470648" y="347472"/>
            <a:ext cx="347472" cy="201168"/>
          </a:xfrm>
          <a:prstGeom prst="roundRect">
            <a:avLst>
              <a:gd name="adj" fmla="val 27273"/>
            </a:avLst>
          </a:prstGeom>
          <a:solidFill>
            <a:srgbClr val="B7D89A"/>
          </a:solidFill>
          <a:ln/>
        </p:spPr>
      </p:sp>
      <p:sp>
        <p:nvSpPr>
          <p:cNvPr id="41" name="Shape 39"/>
          <p:cNvSpPr/>
          <p:nvPr/>
        </p:nvSpPr>
        <p:spPr>
          <a:xfrm>
            <a:off x="1828800" y="868680"/>
            <a:ext cx="457200" cy="237744"/>
          </a:xfrm>
          <a:prstGeom prst="roundRect">
            <a:avLst>
              <a:gd name="adj" fmla="val 23077"/>
            </a:avLst>
          </a:prstGeom>
          <a:solidFill>
            <a:srgbClr val="7FA06B"/>
          </a:solidFill>
          <a:ln/>
        </p:spPr>
      </p:sp>
      <p:sp>
        <p:nvSpPr>
          <p:cNvPr id="42" name="Shape 40"/>
          <p:cNvSpPr/>
          <p:nvPr/>
        </p:nvSpPr>
        <p:spPr>
          <a:xfrm>
            <a:off x="2606040" y="868680"/>
            <a:ext cx="457200" cy="237744"/>
          </a:xfrm>
          <a:prstGeom prst="roundRect">
            <a:avLst>
              <a:gd name="adj" fmla="val 23077"/>
            </a:avLst>
          </a:prstGeom>
          <a:solidFill>
            <a:srgbClr val="7FA06B"/>
          </a:solidFill>
          <a:ln/>
        </p:spPr>
      </p:sp>
      <p:sp>
        <p:nvSpPr>
          <p:cNvPr id="43" name="Shape 41"/>
          <p:cNvSpPr/>
          <p:nvPr/>
        </p:nvSpPr>
        <p:spPr>
          <a:xfrm>
            <a:off x="3383280" y="868680"/>
            <a:ext cx="457200" cy="237744"/>
          </a:xfrm>
          <a:prstGeom prst="roundRect">
            <a:avLst>
              <a:gd name="adj" fmla="val 23077"/>
            </a:avLst>
          </a:prstGeom>
          <a:solidFill>
            <a:srgbClr val="7FA06B"/>
          </a:solidFill>
          <a:ln/>
        </p:spPr>
      </p:sp>
      <p:sp>
        <p:nvSpPr>
          <p:cNvPr id="44" name="Shape 42"/>
          <p:cNvSpPr/>
          <p:nvPr/>
        </p:nvSpPr>
        <p:spPr>
          <a:xfrm>
            <a:off x="4160520" y="868680"/>
            <a:ext cx="457200" cy="237744"/>
          </a:xfrm>
          <a:prstGeom prst="roundRect">
            <a:avLst>
              <a:gd name="adj" fmla="val 23077"/>
            </a:avLst>
          </a:prstGeom>
          <a:solidFill>
            <a:srgbClr val="7FA06B"/>
          </a:solidFill>
          <a:ln/>
        </p:spPr>
      </p:sp>
      <p:sp>
        <p:nvSpPr>
          <p:cNvPr id="45" name="Shape 43"/>
          <p:cNvSpPr/>
          <p:nvPr/>
        </p:nvSpPr>
        <p:spPr>
          <a:xfrm>
            <a:off x="4892040" y="868680"/>
            <a:ext cx="457200" cy="237744"/>
          </a:xfrm>
          <a:prstGeom prst="roundRect">
            <a:avLst>
              <a:gd name="adj" fmla="val 23077"/>
            </a:avLst>
          </a:prstGeom>
          <a:solidFill>
            <a:srgbClr val="7FA06B"/>
          </a:solidFill>
          <a:ln/>
        </p:spPr>
      </p:sp>
      <p:sp>
        <p:nvSpPr>
          <p:cNvPr id="46" name="Shape 44"/>
          <p:cNvSpPr/>
          <p:nvPr/>
        </p:nvSpPr>
        <p:spPr>
          <a:xfrm>
            <a:off x="5669280" y="868680"/>
            <a:ext cx="457200" cy="237744"/>
          </a:xfrm>
          <a:prstGeom prst="roundRect">
            <a:avLst>
              <a:gd name="adj" fmla="val 23077"/>
            </a:avLst>
          </a:prstGeom>
          <a:solidFill>
            <a:srgbClr val="7FA06B"/>
          </a:solidFill>
          <a:ln/>
        </p:spPr>
      </p:sp>
      <p:sp>
        <p:nvSpPr>
          <p:cNvPr id="47" name="Shape 45"/>
          <p:cNvSpPr/>
          <p:nvPr/>
        </p:nvSpPr>
        <p:spPr>
          <a:xfrm>
            <a:off x="6400800" y="868680"/>
            <a:ext cx="457200" cy="237744"/>
          </a:xfrm>
          <a:prstGeom prst="roundRect">
            <a:avLst>
              <a:gd name="adj" fmla="val 23077"/>
            </a:avLst>
          </a:prstGeom>
          <a:solidFill>
            <a:srgbClr val="7FA06B"/>
          </a:solidFill>
          <a:ln/>
        </p:spPr>
      </p:sp>
      <p:sp>
        <p:nvSpPr>
          <p:cNvPr id="48" name="Shape 46"/>
          <p:cNvSpPr/>
          <p:nvPr/>
        </p:nvSpPr>
        <p:spPr>
          <a:xfrm>
            <a:off x="7086600" y="868680"/>
            <a:ext cx="457200" cy="237744"/>
          </a:xfrm>
          <a:prstGeom prst="roundRect">
            <a:avLst>
              <a:gd name="adj" fmla="val 23077"/>
            </a:avLst>
          </a:prstGeom>
          <a:solidFill>
            <a:srgbClr val="7FA06B"/>
          </a:solidFill>
          <a:ln/>
        </p:spPr>
      </p:sp>
      <p:sp>
        <p:nvSpPr>
          <p:cNvPr id="49" name="Shape 47"/>
          <p:cNvSpPr/>
          <p:nvPr/>
        </p:nvSpPr>
        <p:spPr>
          <a:xfrm>
            <a:off x="2807208" y="1389888"/>
            <a:ext cx="512064" cy="256032"/>
          </a:xfrm>
          <a:prstGeom prst="roundRect">
            <a:avLst>
              <a:gd name="adj" fmla="val 21429"/>
            </a:avLst>
          </a:prstGeom>
          <a:solidFill>
            <a:srgbClr val="5B7F52"/>
          </a:solidFill>
          <a:ln/>
        </p:spPr>
      </p:sp>
      <p:sp>
        <p:nvSpPr>
          <p:cNvPr id="50" name="Shape 48"/>
          <p:cNvSpPr/>
          <p:nvPr/>
        </p:nvSpPr>
        <p:spPr>
          <a:xfrm>
            <a:off x="4315968" y="1389888"/>
            <a:ext cx="512064" cy="256032"/>
          </a:xfrm>
          <a:prstGeom prst="roundRect">
            <a:avLst>
              <a:gd name="adj" fmla="val 21429"/>
            </a:avLst>
          </a:prstGeom>
          <a:solidFill>
            <a:srgbClr val="5B7F52"/>
          </a:solidFill>
          <a:ln/>
        </p:spPr>
      </p:sp>
      <p:sp>
        <p:nvSpPr>
          <p:cNvPr id="51" name="Shape 49"/>
          <p:cNvSpPr/>
          <p:nvPr/>
        </p:nvSpPr>
        <p:spPr>
          <a:xfrm>
            <a:off x="5824728" y="1389888"/>
            <a:ext cx="512064" cy="256032"/>
          </a:xfrm>
          <a:prstGeom prst="roundRect">
            <a:avLst>
              <a:gd name="adj" fmla="val 21429"/>
            </a:avLst>
          </a:prstGeom>
          <a:solidFill>
            <a:srgbClr val="5B7F52"/>
          </a:solidFill>
          <a:ln/>
        </p:spPr>
      </p:sp>
      <p:sp>
        <p:nvSpPr>
          <p:cNvPr id="52" name="Shape 50"/>
          <p:cNvSpPr/>
          <p:nvPr/>
        </p:nvSpPr>
        <p:spPr>
          <a:xfrm>
            <a:off x="4251960" y="1938528"/>
            <a:ext cx="640080" cy="274320"/>
          </a:xfrm>
          <a:prstGeom prst="roundRect">
            <a:avLst>
              <a:gd name="adj" fmla="val 20000"/>
            </a:avLst>
          </a:prstGeom>
          <a:solidFill>
            <a:srgbClr val="D8A03A"/>
          </a:solidFill>
          <a:ln/>
        </p:spPr>
      </p:sp>
      <p:sp>
        <p:nvSpPr>
          <p:cNvPr id="53" name="Text 51"/>
          <p:cNvSpPr/>
          <p:nvPr/>
        </p:nvSpPr>
        <p:spPr>
          <a:xfrm>
            <a:off x="914400" y="2468880"/>
            <a:ext cx="7315200" cy="914400"/>
          </a:xfrm>
          <a:prstGeom prst="rect">
            <a:avLst/>
          </a:prstGeom>
          <a:noFill/>
          <a:ln/>
        </p:spPr>
        <p:txBody>
          <a:bodyPr wrap="square" lIns="0" tIns="0" rIns="0" bIns="0" rtlCol="0" anchor="ctr"/>
          <a:lstStyle/>
          <a:p>
            <a:pPr algn="ctr" indent="0" marL="0">
              <a:buNone/>
            </a:pPr>
            <a:r>
              <a:rPr lang="en-US" sz="6000" b="1" spc="1000" kern="0" dirty="0">
                <a:solidFill>
                  <a:srgbClr val="F4FBF0"/>
                </a:solidFill>
                <a:latin typeface="Cambria" pitchFamily="34" charset="0"/>
                <a:ea typeface="Cambria" pitchFamily="34" charset="-122"/>
                <a:cs typeface="Cambria" pitchFamily="34" charset="-120"/>
              </a:rPr>
              <a:t>CANOPY</a:t>
            </a:r>
            <a:endParaRPr lang="en-US" sz="6000" dirty="0"/>
          </a:p>
        </p:txBody>
      </p:sp>
      <p:sp>
        <p:nvSpPr>
          <p:cNvPr id="54" name="Text 52"/>
          <p:cNvSpPr/>
          <p:nvPr/>
        </p:nvSpPr>
        <p:spPr>
          <a:xfrm>
            <a:off x="914400" y="3429000"/>
            <a:ext cx="7315200" cy="457200"/>
          </a:xfrm>
          <a:prstGeom prst="rect">
            <a:avLst/>
          </a:prstGeom>
          <a:noFill/>
          <a:ln/>
        </p:spPr>
        <p:txBody>
          <a:bodyPr wrap="square" lIns="0" tIns="0" rIns="0" bIns="0" rtlCol="0" anchor="ctr"/>
          <a:lstStyle/>
          <a:p>
            <a:pPr algn="ctr" indent="0" marL="0">
              <a:buNone/>
            </a:pPr>
            <a:r>
              <a:rPr lang="en-US" sz="2000" i="1" dirty="0">
                <a:solidFill>
                  <a:srgbClr val="B7D89A"/>
                </a:solidFill>
                <a:latin typeface="Calibri" pitchFamily="34" charset="0"/>
                <a:ea typeface="Calibri" pitchFamily="34" charset="-122"/>
                <a:cs typeface="Calibri" pitchFamily="34" charset="-120"/>
              </a:rPr>
              <a:t>Draw an organization. Run it.</a:t>
            </a:r>
            <a:endParaRPr lang="en-US" sz="2000" dirty="0"/>
          </a:p>
        </p:txBody>
      </p:sp>
      <p:sp>
        <p:nvSpPr>
          <p:cNvPr id="55" name="Text 53"/>
          <p:cNvSpPr/>
          <p:nvPr/>
        </p:nvSpPr>
        <p:spPr>
          <a:xfrm>
            <a:off x="914400" y="4343400"/>
            <a:ext cx="7315200" cy="365760"/>
          </a:xfrm>
          <a:prstGeom prst="rect">
            <a:avLst/>
          </a:prstGeom>
          <a:noFill/>
          <a:ln/>
        </p:spPr>
        <p:txBody>
          <a:bodyPr wrap="square" lIns="0" tIns="0" rIns="0" bIns="0" rtlCol="0" anchor="ctr"/>
          <a:lstStyle/>
          <a:p>
            <a:pPr algn="ctr" indent="0" marL="0">
              <a:buNone/>
            </a:pPr>
            <a:r>
              <a:rPr lang="en-US" sz="1300" dirty="0">
                <a:solidFill>
                  <a:srgbClr val="7FA06B"/>
                </a:solidFill>
                <a:latin typeface="Calibri" pitchFamily="34" charset="0"/>
                <a:ea typeface="Calibri" pitchFamily="34" charset="-122"/>
                <a:cs typeface="Calibri" pitchFamily="34" charset="-120"/>
              </a:rPr>
              <a:t>The chart isn't a diagram of the system.  The chart is the system.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17240F"/>
                </a:solidFill>
                <a:latin typeface="Cambria" pitchFamily="34" charset="0"/>
                <a:ea typeface="Cambria" pitchFamily="34" charset="-122"/>
                <a:cs typeface="Cambria" pitchFamily="34" charset="-120"/>
              </a:rPr>
              <a:t>The story you've been told</a:t>
            </a:r>
            <a:endParaRPr lang="en-US" sz="3200" dirty="0"/>
          </a:p>
        </p:txBody>
      </p:sp>
      <p:sp>
        <p:nvSpPr>
          <p:cNvPr id="3" name="Shape 1"/>
          <p:cNvSpPr/>
          <p:nvPr/>
        </p:nvSpPr>
        <p:spPr>
          <a:xfrm>
            <a:off x="457200" y="1143000"/>
            <a:ext cx="2651760" cy="1143000"/>
          </a:xfrm>
          <a:prstGeom prst="roundRect">
            <a:avLst>
              <a:gd name="adj" fmla="val 6400"/>
            </a:avLst>
          </a:prstGeom>
          <a:solidFill>
            <a:srgbClr val="F4FBF0"/>
          </a:solidFill>
          <a:ln/>
          <a:effectLst>
            <a:outerShdw sx="100000" sy="100000" kx="0" ky="0" algn="bl" rotWithShape="0" blurRad="88900" dist="25400" dir="2700000">
              <a:srgbClr val="000000">
                <a:alpha val="14000"/>
              </a:srgbClr>
            </a:outerShdw>
          </a:effectLst>
        </p:spPr>
      </p:sp>
      <p:sp>
        <p:nvSpPr>
          <p:cNvPr id="4" name="Text 2"/>
          <p:cNvSpPr/>
          <p:nvPr/>
        </p:nvSpPr>
        <p:spPr>
          <a:xfrm>
            <a:off x="594360" y="1143000"/>
            <a:ext cx="2377440" cy="1143000"/>
          </a:xfrm>
          <a:prstGeom prst="rect">
            <a:avLst/>
          </a:prstGeom>
          <a:noFill/>
          <a:ln/>
        </p:spPr>
        <p:txBody>
          <a:bodyPr wrap="square" lIns="0" tIns="0" rIns="0" bIns="0" rtlCol="0" anchor="ctr"/>
          <a:lstStyle/>
          <a:p>
            <a:pPr algn="ctr" indent="0" marL="0">
              <a:buNone/>
            </a:pPr>
            <a:r>
              <a:rPr lang="en-US" sz="1500" i="1" dirty="0">
                <a:solidFill>
                  <a:srgbClr val="3E5C3A"/>
                </a:solidFill>
                <a:latin typeface="Cambria" pitchFamily="34" charset="0"/>
                <a:ea typeface="Cambria" pitchFamily="34" charset="-122"/>
                <a:cs typeface="Cambria" pitchFamily="34" charset="-120"/>
              </a:rPr>
              <a:t>“The artist is being replaced.”</a:t>
            </a:r>
            <a:endParaRPr lang="en-US" sz="1500" dirty="0"/>
          </a:p>
        </p:txBody>
      </p:sp>
      <p:sp>
        <p:nvSpPr>
          <p:cNvPr id="5" name="Shape 3"/>
          <p:cNvSpPr/>
          <p:nvPr/>
        </p:nvSpPr>
        <p:spPr>
          <a:xfrm>
            <a:off x="3291840" y="1143000"/>
            <a:ext cx="2651760" cy="1143000"/>
          </a:xfrm>
          <a:prstGeom prst="roundRect">
            <a:avLst>
              <a:gd name="adj" fmla="val 6400"/>
            </a:avLst>
          </a:prstGeom>
          <a:solidFill>
            <a:srgbClr val="F4FBF0"/>
          </a:solidFill>
          <a:ln/>
          <a:effectLst>
            <a:outerShdw sx="100000" sy="100000" kx="0" ky="0" algn="bl" rotWithShape="0" blurRad="88900" dist="25400" dir="2700000">
              <a:srgbClr val="000000">
                <a:alpha val="14000"/>
              </a:srgbClr>
            </a:outerShdw>
          </a:effectLst>
        </p:spPr>
      </p:sp>
      <p:sp>
        <p:nvSpPr>
          <p:cNvPr id="6" name="Text 4"/>
          <p:cNvSpPr/>
          <p:nvPr/>
        </p:nvSpPr>
        <p:spPr>
          <a:xfrm>
            <a:off x="3429000" y="1143000"/>
            <a:ext cx="2377440" cy="1143000"/>
          </a:xfrm>
          <a:prstGeom prst="rect">
            <a:avLst/>
          </a:prstGeom>
          <a:noFill/>
          <a:ln/>
        </p:spPr>
        <p:txBody>
          <a:bodyPr wrap="square" lIns="0" tIns="0" rIns="0" bIns="0" rtlCol="0" anchor="ctr"/>
          <a:lstStyle/>
          <a:p>
            <a:pPr algn="ctr" indent="0" marL="0">
              <a:buNone/>
            </a:pPr>
            <a:r>
              <a:rPr lang="en-US" sz="1500" i="1" dirty="0">
                <a:solidFill>
                  <a:srgbClr val="3E5C3A"/>
                </a:solidFill>
                <a:latin typeface="Cambria" pitchFamily="34" charset="0"/>
                <a:ea typeface="Cambria" pitchFamily="34" charset="-122"/>
                <a:cs typeface="Cambria" pitchFamily="34" charset="-120"/>
              </a:rPr>
              <a:t>“The writer is being made redundant.”</a:t>
            </a:r>
            <a:endParaRPr lang="en-US" sz="1500" dirty="0"/>
          </a:p>
        </p:txBody>
      </p:sp>
      <p:sp>
        <p:nvSpPr>
          <p:cNvPr id="7" name="Shape 5"/>
          <p:cNvSpPr/>
          <p:nvPr/>
        </p:nvSpPr>
        <p:spPr>
          <a:xfrm>
            <a:off x="6126480" y="1143000"/>
            <a:ext cx="2651760" cy="1143000"/>
          </a:xfrm>
          <a:prstGeom prst="roundRect">
            <a:avLst>
              <a:gd name="adj" fmla="val 6400"/>
            </a:avLst>
          </a:prstGeom>
          <a:solidFill>
            <a:srgbClr val="F4FBF0"/>
          </a:solidFill>
          <a:ln/>
          <a:effectLst>
            <a:outerShdw sx="100000" sy="100000" kx="0" ky="0" algn="bl" rotWithShape="0" blurRad="88900" dist="25400" dir="2700000">
              <a:srgbClr val="000000">
                <a:alpha val="14000"/>
              </a:srgbClr>
            </a:outerShdw>
          </a:effectLst>
        </p:spPr>
      </p:sp>
      <p:sp>
        <p:nvSpPr>
          <p:cNvPr id="8" name="Text 6"/>
          <p:cNvSpPr/>
          <p:nvPr/>
        </p:nvSpPr>
        <p:spPr>
          <a:xfrm>
            <a:off x="6263640" y="1143000"/>
            <a:ext cx="2377440" cy="1143000"/>
          </a:xfrm>
          <a:prstGeom prst="rect">
            <a:avLst/>
          </a:prstGeom>
          <a:noFill/>
          <a:ln/>
        </p:spPr>
        <p:txBody>
          <a:bodyPr wrap="square" lIns="0" tIns="0" rIns="0" bIns="0" rtlCol="0" anchor="ctr"/>
          <a:lstStyle/>
          <a:p>
            <a:pPr algn="ctr" indent="0" marL="0">
              <a:buNone/>
            </a:pPr>
            <a:r>
              <a:rPr lang="en-US" sz="1500" i="1" dirty="0">
                <a:solidFill>
                  <a:srgbClr val="3E5C3A"/>
                </a:solidFill>
                <a:latin typeface="Cambria" pitchFamily="34" charset="0"/>
                <a:ea typeface="Cambria" pitchFamily="34" charset="-122"/>
                <a:cs typeface="Cambria" pitchFamily="34" charset="-120"/>
              </a:rPr>
              <a:t>“The developer is being automated.”</a:t>
            </a:r>
            <a:endParaRPr lang="en-US" sz="1500" dirty="0"/>
          </a:p>
        </p:txBody>
      </p:sp>
      <p:sp>
        <p:nvSpPr>
          <p:cNvPr id="9" name="Text 7"/>
          <p:cNvSpPr/>
          <p:nvPr/>
        </p:nvSpPr>
        <p:spPr>
          <a:xfrm>
            <a:off x="457200" y="2697480"/>
            <a:ext cx="8229600" cy="457200"/>
          </a:xfrm>
          <a:prstGeom prst="rect">
            <a:avLst/>
          </a:prstGeom>
          <a:noFill/>
          <a:ln/>
        </p:spPr>
        <p:txBody>
          <a:bodyPr wrap="square" lIns="0" tIns="0" rIns="0" bIns="0" rtlCol="0" anchor="ctr"/>
          <a:lstStyle/>
          <a:p>
            <a:pPr algn="ctr" indent="0" marL="0">
              <a:buNone/>
            </a:pPr>
            <a:r>
              <a:rPr lang="en-US" sz="1500" dirty="0">
                <a:solidFill>
                  <a:srgbClr val="5C665A"/>
                </a:solidFill>
                <a:latin typeface="Calibri" pitchFamily="34" charset="0"/>
                <a:ea typeface="Calibri" pitchFamily="34" charset="-122"/>
                <a:cs typeface="Calibri" pitchFamily="34" charset="-120"/>
              </a:rPr>
              <a:t>Notice the passive voice. That story is not a law of physics — it’s a description of who currently owns the machines.</a:t>
            </a:r>
            <a:endParaRPr lang="en-US" sz="1500" dirty="0"/>
          </a:p>
        </p:txBody>
      </p:sp>
      <p:sp>
        <p:nvSpPr>
          <p:cNvPr id="10" name="Shape 8"/>
          <p:cNvSpPr/>
          <p:nvPr/>
        </p:nvSpPr>
        <p:spPr>
          <a:xfrm>
            <a:off x="914400" y="3383280"/>
            <a:ext cx="7315200" cy="1143000"/>
          </a:xfrm>
          <a:prstGeom prst="roundRect">
            <a:avLst>
              <a:gd name="adj" fmla="val 8000"/>
            </a:avLst>
          </a:prstGeom>
          <a:solidFill>
            <a:srgbClr val="17240F"/>
          </a:solidFill>
          <a:ln/>
          <a:effectLst>
            <a:outerShdw sx="100000" sy="100000" kx="0" ky="0" algn="bl" rotWithShape="0" blurRad="88900" dist="25400" dir="2700000">
              <a:srgbClr val="000000">
                <a:alpha val="14000"/>
              </a:srgbClr>
            </a:outerShdw>
          </a:effectLst>
        </p:spPr>
      </p:sp>
      <p:sp>
        <p:nvSpPr>
          <p:cNvPr id="11" name="Text 9"/>
          <p:cNvSpPr/>
          <p:nvPr/>
        </p:nvSpPr>
        <p:spPr>
          <a:xfrm>
            <a:off x="1188720" y="3383280"/>
            <a:ext cx="6766560" cy="1143000"/>
          </a:xfrm>
          <a:prstGeom prst="rect">
            <a:avLst/>
          </a:prstGeom>
          <a:noFill/>
          <a:ln/>
        </p:spPr>
        <p:txBody>
          <a:bodyPr wrap="square" lIns="0" tIns="0" rIns="0" bIns="0" rtlCol="0" anchor="ctr"/>
          <a:lstStyle/>
          <a:p>
            <a:pPr algn="ctr" indent="0" marL="0">
              <a:buNone/>
            </a:pPr>
            <a:r>
              <a:rPr lang="en-US" sz="1800" b="1" dirty="0">
                <a:solidFill>
                  <a:srgbClr val="F4FBF0"/>
                </a:solidFill>
                <a:latin typeface="Cambria" pitchFamily="34" charset="0"/>
                <a:ea typeface="Cambria" pitchFamily="34" charset="-122"/>
                <a:cs typeface="Cambria" pitchFamily="34" charset="-120"/>
              </a:rPr>
              <a:t>The same technology that can do an artist’s job for a corporation</a:t>
            </a:r>
            <a:endParaRPr lang="en-US" sz="1800" dirty="0"/>
          </a:p>
          <a:p>
            <a:pPr algn="ctr" indent="0" marL="0">
              <a:buNone/>
            </a:pPr>
            <a:r>
              <a:rPr lang="en-US" sz="1800" b="1" dirty="0">
                <a:solidFill>
                  <a:srgbClr val="D8A03A"/>
                </a:solidFill>
                <a:latin typeface="Cambria" pitchFamily="34" charset="0"/>
                <a:ea typeface="Cambria" pitchFamily="34" charset="-122"/>
                <a:cs typeface="Cambria" pitchFamily="34" charset="-120"/>
              </a:rPr>
              <a:t>can do a corporation’s job for an artist.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17240F"/>
                </a:solidFill>
                <a:latin typeface="Cambria" pitchFamily="34" charset="0"/>
                <a:ea typeface="Cambria" pitchFamily="34" charset="-122"/>
                <a:cs typeface="Cambria" pitchFamily="34" charset="-120"/>
              </a:rPr>
              <a:t>The real moat was never talent</a:t>
            </a:r>
            <a:endParaRPr lang="en-US" sz="3200" dirty="0"/>
          </a:p>
        </p:txBody>
      </p:sp>
      <p:sp>
        <p:nvSpPr>
          <p:cNvPr id="3" name="Shape 1"/>
          <p:cNvSpPr/>
          <p:nvPr/>
        </p:nvSpPr>
        <p:spPr>
          <a:xfrm>
            <a:off x="502920" y="1170432"/>
            <a:ext cx="457200" cy="457200"/>
          </a:xfrm>
          <a:prstGeom prst="ellipse">
            <a:avLst/>
          </a:prstGeom>
          <a:solidFill>
            <a:srgbClr val="F4FBF0"/>
          </a:solidFill>
          <a:ln/>
        </p:spPr>
      </p:sp>
      <p:pic>
        <p:nvPicPr>
          <p:cNvPr id="4" name="Image 0" descr="preencoded.png">    </p:cNvPr>
          <p:cNvPicPr>
            <a:picLocks noChangeAspect="1"/>
          </p:cNvPicPr>
          <p:nvPr/>
        </p:nvPicPr>
        <p:blipFill>
          <a:blip r:embed="rId1"/>
          <a:stretch>
            <a:fillRect/>
          </a:stretch>
        </p:blipFill>
        <p:spPr>
          <a:xfrm>
            <a:off x="612648" y="1280160"/>
            <a:ext cx="237744" cy="237744"/>
          </a:xfrm>
          <a:prstGeom prst="rect">
            <a:avLst/>
          </a:prstGeom>
        </p:spPr>
      </p:pic>
      <p:sp>
        <p:nvSpPr>
          <p:cNvPr id="5" name="Text 2"/>
          <p:cNvSpPr/>
          <p:nvPr/>
        </p:nvSpPr>
        <p:spPr>
          <a:xfrm>
            <a:off x="1143000" y="1143000"/>
            <a:ext cx="3566160" cy="512064"/>
          </a:xfrm>
          <a:prstGeom prst="rect">
            <a:avLst/>
          </a:prstGeom>
          <a:noFill/>
          <a:ln/>
        </p:spPr>
        <p:txBody>
          <a:bodyPr wrap="square" lIns="0" tIns="0" rIns="0" bIns="0" rtlCol="0" anchor="ctr"/>
          <a:lstStyle/>
          <a:p>
            <a:pPr indent="0" marL="0">
              <a:buNone/>
            </a:pPr>
            <a:r>
              <a:rPr lang="en-US" sz="1600" b="1" dirty="0">
                <a:solidFill>
                  <a:srgbClr val="17240F"/>
                </a:solidFill>
                <a:latin typeface="Calibri" pitchFamily="34" charset="0"/>
                <a:ea typeface="Calibri" pitchFamily="34" charset="-122"/>
                <a:cs typeface="Calibri" pitchFamily="34" charset="-120"/>
              </a:rPr>
              <a:t>Ideas  </a:t>
            </a:r>
            <a:pPr indent="0" marL="0">
              <a:buNone/>
            </a:pPr>
            <a:r>
              <a:rPr lang="en-US" sz="1400" dirty="0">
                <a:solidFill>
                  <a:srgbClr val="5C665A"/>
                </a:solidFill>
                <a:latin typeface="Calibri" pitchFamily="34" charset="0"/>
                <a:ea typeface="Calibri" pitchFamily="34" charset="-122"/>
                <a:cs typeface="Calibri" pitchFamily="34" charset="-120"/>
              </a:rPr>
              <a:t>—  You have those.</a:t>
            </a:r>
            <a:endParaRPr lang="en-US" sz="1600" dirty="0"/>
          </a:p>
        </p:txBody>
      </p:sp>
      <p:sp>
        <p:nvSpPr>
          <p:cNvPr id="6" name="Shape 3"/>
          <p:cNvSpPr/>
          <p:nvPr/>
        </p:nvSpPr>
        <p:spPr>
          <a:xfrm>
            <a:off x="502920" y="1883664"/>
            <a:ext cx="457200" cy="457200"/>
          </a:xfrm>
          <a:prstGeom prst="ellipse">
            <a:avLst/>
          </a:prstGeom>
          <a:solidFill>
            <a:srgbClr val="F4FBF0"/>
          </a:solidFill>
          <a:ln/>
        </p:spPr>
      </p:sp>
      <p:pic>
        <p:nvPicPr>
          <p:cNvPr id="7" name="Image 1" descr="preencoded.png">    </p:cNvPr>
          <p:cNvPicPr>
            <a:picLocks noChangeAspect="1"/>
          </p:cNvPicPr>
          <p:nvPr/>
        </p:nvPicPr>
        <p:blipFill>
          <a:blip r:embed="rId2"/>
          <a:stretch>
            <a:fillRect/>
          </a:stretch>
        </p:blipFill>
        <p:spPr>
          <a:xfrm>
            <a:off x="612648" y="1993392"/>
            <a:ext cx="237744" cy="237744"/>
          </a:xfrm>
          <a:prstGeom prst="rect">
            <a:avLst/>
          </a:prstGeom>
        </p:spPr>
      </p:pic>
      <p:sp>
        <p:nvSpPr>
          <p:cNvPr id="8" name="Text 4"/>
          <p:cNvSpPr/>
          <p:nvPr/>
        </p:nvSpPr>
        <p:spPr>
          <a:xfrm>
            <a:off x="1143000" y="1856232"/>
            <a:ext cx="3566160" cy="512064"/>
          </a:xfrm>
          <a:prstGeom prst="rect">
            <a:avLst/>
          </a:prstGeom>
          <a:noFill/>
          <a:ln/>
        </p:spPr>
        <p:txBody>
          <a:bodyPr wrap="square" lIns="0" tIns="0" rIns="0" bIns="0" rtlCol="0" anchor="ctr"/>
          <a:lstStyle/>
          <a:p>
            <a:pPr indent="0" marL="0">
              <a:buNone/>
            </a:pPr>
            <a:r>
              <a:rPr lang="en-US" sz="1600" b="1" dirty="0">
                <a:solidFill>
                  <a:srgbClr val="17240F"/>
                </a:solidFill>
                <a:latin typeface="Calibri" pitchFamily="34" charset="0"/>
                <a:ea typeface="Calibri" pitchFamily="34" charset="-122"/>
                <a:cs typeface="Calibri" pitchFamily="34" charset="-120"/>
              </a:rPr>
              <a:t>Talent  </a:t>
            </a:r>
            <a:pPr indent="0" marL="0">
              <a:buNone/>
            </a:pPr>
            <a:r>
              <a:rPr lang="en-US" sz="1400" dirty="0">
                <a:solidFill>
                  <a:srgbClr val="5C665A"/>
                </a:solidFill>
                <a:latin typeface="Calibri" pitchFamily="34" charset="0"/>
                <a:ea typeface="Calibri" pitchFamily="34" charset="-122"/>
                <a:cs typeface="Calibri" pitchFamily="34" charset="-120"/>
              </a:rPr>
              <a:t>—  One person can be world-class.</a:t>
            </a:r>
            <a:endParaRPr lang="en-US" sz="1600" dirty="0"/>
          </a:p>
        </p:txBody>
      </p:sp>
      <p:sp>
        <p:nvSpPr>
          <p:cNvPr id="9" name="Shape 5"/>
          <p:cNvSpPr/>
          <p:nvPr/>
        </p:nvSpPr>
        <p:spPr>
          <a:xfrm>
            <a:off x="502920" y="2596896"/>
            <a:ext cx="457200" cy="457200"/>
          </a:xfrm>
          <a:prstGeom prst="ellipse">
            <a:avLst/>
          </a:prstGeom>
          <a:solidFill>
            <a:srgbClr val="F4FBF0"/>
          </a:solidFill>
          <a:ln/>
        </p:spPr>
      </p:sp>
      <p:pic>
        <p:nvPicPr>
          <p:cNvPr id="10" name="Image 2" descr="preencoded.png">    </p:cNvPr>
          <p:cNvPicPr>
            <a:picLocks noChangeAspect="1"/>
          </p:cNvPicPr>
          <p:nvPr/>
        </p:nvPicPr>
        <p:blipFill>
          <a:blip r:embed="rId3"/>
          <a:stretch>
            <a:fillRect/>
          </a:stretch>
        </p:blipFill>
        <p:spPr>
          <a:xfrm>
            <a:off x="612648" y="2706624"/>
            <a:ext cx="237744" cy="237744"/>
          </a:xfrm>
          <a:prstGeom prst="rect">
            <a:avLst/>
          </a:prstGeom>
        </p:spPr>
      </p:pic>
      <p:sp>
        <p:nvSpPr>
          <p:cNvPr id="11" name="Text 6"/>
          <p:cNvSpPr/>
          <p:nvPr/>
        </p:nvSpPr>
        <p:spPr>
          <a:xfrm>
            <a:off x="1143000" y="2569464"/>
            <a:ext cx="3566160" cy="512064"/>
          </a:xfrm>
          <a:prstGeom prst="rect">
            <a:avLst/>
          </a:prstGeom>
          <a:noFill/>
          <a:ln/>
        </p:spPr>
        <p:txBody>
          <a:bodyPr wrap="square" lIns="0" tIns="0" rIns="0" bIns="0" rtlCol="0" anchor="ctr"/>
          <a:lstStyle/>
          <a:p>
            <a:pPr indent="0" marL="0">
              <a:buNone/>
            </a:pPr>
            <a:r>
              <a:rPr lang="en-US" sz="1600" b="1" dirty="0">
                <a:solidFill>
                  <a:srgbClr val="17240F"/>
                </a:solidFill>
                <a:latin typeface="Calibri" pitchFamily="34" charset="0"/>
                <a:ea typeface="Calibri" pitchFamily="34" charset="-122"/>
                <a:cs typeface="Calibri" pitchFamily="34" charset="-120"/>
              </a:rPr>
              <a:t>Money  </a:t>
            </a:r>
            <a:pPr indent="0" marL="0">
              <a:buNone/>
            </a:pPr>
            <a:r>
              <a:rPr lang="en-US" sz="1400" dirty="0">
                <a:solidFill>
                  <a:srgbClr val="5C665A"/>
                </a:solidFill>
                <a:latin typeface="Calibri" pitchFamily="34" charset="0"/>
                <a:ea typeface="Calibri" pitchFamily="34" charset="-122"/>
                <a:cs typeface="Calibri" pitchFamily="34" charset="-120"/>
              </a:rPr>
              <a:t>—  Not the real gap, most days.</a:t>
            </a:r>
            <a:endParaRPr lang="en-US" sz="1600" dirty="0"/>
          </a:p>
        </p:txBody>
      </p:sp>
      <p:sp>
        <p:nvSpPr>
          <p:cNvPr id="12" name="Shape 7"/>
          <p:cNvSpPr/>
          <p:nvPr/>
        </p:nvSpPr>
        <p:spPr>
          <a:xfrm>
            <a:off x="457200" y="3310128"/>
            <a:ext cx="4297680" cy="960120"/>
          </a:xfrm>
          <a:prstGeom prst="roundRect">
            <a:avLst>
              <a:gd name="adj" fmla="val 7619"/>
            </a:avLst>
          </a:prstGeom>
          <a:solidFill>
            <a:srgbClr val="3E5C3A"/>
          </a:solidFill>
          <a:ln/>
          <a:effectLst>
            <a:outerShdw sx="100000" sy="100000" kx="0" ky="0" algn="bl" rotWithShape="0" blurRad="88900" dist="25400" dir="2700000">
              <a:srgbClr val="000000">
                <a:alpha val="14000"/>
              </a:srgbClr>
            </a:outerShdw>
          </a:effectLst>
        </p:spPr>
      </p:sp>
      <p:pic>
        <p:nvPicPr>
          <p:cNvPr id="13" name="Image 3" descr="preencoded.png">    </p:cNvPr>
          <p:cNvPicPr>
            <a:picLocks noChangeAspect="1"/>
          </p:cNvPicPr>
          <p:nvPr/>
        </p:nvPicPr>
        <p:blipFill>
          <a:blip r:embed="rId4"/>
          <a:stretch>
            <a:fillRect/>
          </a:stretch>
        </p:blipFill>
        <p:spPr>
          <a:xfrm>
            <a:off x="685800" y="3611880"/>
            <a:ext cx="347472" cy="347472"/>
          </a:xfrm>
          <a:prstGeom prst="rect">
            <a:avLst/>
          </a:prstGeom>
        </p:spPr>
      </p:pic>
      <p:sp>
        <p:nvSpPr>
          <p:cNvPr id="14" name="Text 8"/>
          <p:cNvSpPr/>
          <p:nvPr/>
        </p:nvSpPr>
        <p:spPr>
          <a:xfrm>
            <a:off x="1207008" y="3401568"/>
            <a:ext cx="3429000" cy="8229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Organization</a:t>
            </a:r>
            <a:endParaRPr lang="en-US" sz="1600" dirty="0"/>
          </a:p>
          <a:p>
            <a:pPr indent="0" marL="0">
              <a:buNone/>
            </a:pPr>
            <a:r>
              <a:rPr lang="en-US" sz="1150" dirty="0">
                <a:solidFill>
                  <a:srgbClr val="B7D89A"/>
                </a:solidFill>
                <a:latin typeface="Calibri" pitchFamily="34" charset="0"/>
                <a:ea typeface="Calibri" pitchFamily="34" charset="-122"/>
                <a:cs typeface="Calibri" pitchFamily="34" charset="-120"/>
              </a:rPr>
              <a:t>500 specialists, one goal, nothing collapses. That’s the moat — and it’s been the moat for 150 years.</a:t>
            </a:r>
            <a:endParaRPr lang="en-US" sz="1600" dirty="0"/>
          </a:p>
        </p:txBody>
      </p:sp>
      <p:sp>
        <p:nvSpPr>
          <p:cNvPr id="15" name="Text 9"/>
          <p:cNvSpPr/>
          <p:nvPr/>
        </p:nvSpPr>
        <p:spPr>
          <a:xfrm>
            <a:off x="5120640" y="1005840"/>
            <a:ext cx="3657600" cy="365760"/>
          </a:xfrm>
          <a:prstGeom prst="rect">
            <a:avLst/>
          </a:prstGeom>
          <a:noFill/>
          <a:ln/>
        </p:spPr>
        <p:txBody>
          <a:bodyPr wrap="square" lIns="0" tIns="0" rIns="0" bIns="0" rtlCol="0" anchor="ctr"/>
          <a:lstStyle/>
          <a:p>
            <a:pPr algn="ctr" indent="0" marL="0">
              <a:buNone/>
            </a:pPr>
            <a:r>
              <a:rPr lang="en-US" sz="1300" i="1" dirty="0">
                <a:solidFill>
                  <a:srgbClr val="5C665A"/>
                </a:solidFill>
                <a:latin typeface="Calibri" pitchFamily="34" charset="0"/>
                <a:ea typeface="Calibri" pitchFamily="34" charset="-122"/>
                <a:cs typeface="Calibri" pitchFamily="34" charset="-120"/>
              </a:rPr>
              <a:t>Coordination is expensive — so scale became a privilege.</a:t>
            </a:r>
            <a:endParaRPr lang="en-US" sz="1300" dirty="0"/>
          </a:p>
        </p:txBody>
      </p:sp>
      <p:sp>
        <p:nvSpPr>
          <p:cNvPr id="16" name="Shape 10"/>
          <p:cNvSpPr/>
          <p:nvPr/>
        </p:nvSpPr>
        <p:spPr>
          <a:xfrm>
            <a:off x="6720840" y="1600200"/>
            <a:ext cx="457200" cy="219456"/>
          </a:xfrm>
          <a:prstGeom prst="roundRect">
            <a:avLst>
              <a:gd name="adj" fmla="val 25000"/>
            </a:avLst>
          </a:prstGeom>
          <a:solidFill>
            <a:srgbClr val="3E5C3A"/>
          </a:solidFill>
          <a:ln/>
        </p:spPr>
      </p:sp>
      <p:sp>
        <p:nvSpPr>
          <p:cNvPr id="17" name="Shape 11"/>
          <p:cNvSpPr/>
          <p:nvPr/>
        </p:nvSpPr>
        <p:spPr>
          <a:xfrm>
            <a:off x="5248656" y="2103120"/>
            <a:ext cx="384048" cy="201168"/>
          </a:xfrm>
          <a:prstGeom prst="roundRect">
            <a:avLst>
              <a:gd name="adj" fmla="val 27273"/>
            </a:avLst>
          </a:prstGeom>
          <a:solidFill>
            <a:srgbClr val="5B7F52"/>
          </a:solidFill>
          <a:ln/>
        </p:spPr>
      </p:sp>
      <p:sp>
        <p:nvSpPr>
          <p:cNvPr id="18" name="Shape 12"/>
          <p:cNvSpPr/>
          <p:nvPr/>
        </p:nvSpPr>
        <p:spPr>
          <a:xfrm flipH="1">
            <a:off x="5440680" y="1819656"/>
            <a:ext cx="1508760" cy="283464"/>
          </a:xfrm>
          <a:prstGeom prst="line">
            <a:avLst/>
          </a:prstGeom>
          <a:noFill/>
          <a:ln w="12700">
            <a:solidFill>
              <a:srgbClr val="7FA06B"/>
            </a:solidFill>
            <a:prstDash val="solid"/>
          </a:ln>
        </p:spPr>
      </p:sp>
      <p:sp>
        <p:nvSpPr>
          <p:cNvPr id="19" name="Shape 13"/>
          <p:cNvSpPr/>
          <p:nvPr/>
        </p:nvSpPr>
        <p:spPr>
          <a:xfrm>
            <a:off x="6254496" y="2103120"/>
            <a:ext cx="384048" cy="201168"/>
          </a:xfrm>
          <a:prstGeom prst="roundRect">
            <a:avLst>
              <a:gd name="adj" fmla="val 27273"/>
            </a:avLst>
          </a:prstGeom>
          <a:solidFill>
            <a:srgbClr val="5B7F52"/>
          </a:solidFill>
          <a:ln/>
        </p:spPr>
      </p:sp>
      <p:sp>
        <p:nvSpPr>
          <p:cNvPr id="20" name="Shape 14"/>
          <p:cNvSpPr/>
          <p:nvPr/>
        </p:nvSpPr>
        <p:spPr>
          <a:xfrm flipH="1">
            <a:off x="6446520" y="1819656"/>
            <a:ext cx="502920" cy="283464"/>
          </a:xfrm>
          <a:prstGeom prst="line">
            <a:avLst/>
          </a:prstGeom>
          <a:noFill/>
          <a:ln w="12700">
            <a:solidFill>
              <a:srgbClr val="7FA06B"/>
            </a:solidFill>
            <a:prstDash val="solid"/>
          </a:ln>
        </p:spPr>
      </p:sp>
      <p:sp>
        <p:nvSpPr>
          <p:cNvPr id="21" name="Shape 15"/>
          <p:cNvSpPr/>
          <p:nvPr/>
        </p:nvSpPr>
        <p:spPr>
          <a:xfrm>
            <a:off x="7260336" y="2103120"/>
            <a:ext cx="384048" cy="201168"/>
          </a:xfrm>
          <a:prstGeom prst="roundRect">
            <a:avLst>
              <a:gd name="adj" fmla="val 27273"/>
            </a:avLst>
          </a:prstGeom>
          <a:solidFill>
            <a:srgbClr val="5B7F52"/>
          </a:solidFill>
          <a:ln/>
        </p:spPr>
      </p:sp>
      <p:sp>
        <p:nvSpPr>
          <p:cNvPr id="22" name="Shape 16"/>
          <p:cNvSpPr/>
          <p:nvPr/>
        </p:nvSpPr>
        <p:spPr>
          <a:xfrm>
            <a:off x="6949440" y="1819656"/>
            <a:ext cx="502920" cy="283464"/>
          </a:xfrm>
          <a:prstGeom prst="line">
            <a:avLst/>
          </a:prstGeom>
          <a:noFill/>
          <a:ln w="12700">
            <a:solidFill>
              <a:srgbClr val="7FA06B"/>
            </a:solidFill>
            <a:prstDash val="solid"/>
          </a:ln>
        </p:spPr>
      </p:sp>
      <p:sp>
        <p:nvSpPr>
          <p:cNvPr id="23" name="Shape 17"/>
          <p:cNvSpPr/>
          <p:nvPr/>
        </p:nvSpPr>
        <p:spPr>
          <a:xfrm>
            <a:off x="8266176" y="2103120"/>
            <a:ext cx="384048" cy="201168"/>
          </a:xfrm>
          <a:prstGeom prst="roundRect">
            <a:avLst>
              <a:gd name="adj" fmla="val 27273"/>
            </a:avLst>
          </a:prstGeom>
          <a:solidFill>
            <a:srgbClr val="5B7F52"/>
          </a:solidFill>
          <a:ln/>
        </p:spPr>
      </p:sp>
      <p:sp>
        <p:nvSpPr>
          <p:cNvPr id="24" name="Shape 18"/>
          <p:cNvSpPr/>
          <p:nvPr/>
        </p:nvSpPr>
        <p:spPr>
          <a:xfrm>
            <a:off x="6949440" y="1819656"/>
            <a:ext cx="1508760" cy="283464"/>
          </a:xfrm>
          <a:prstGeom prst="line">
            <a:avLst/>
          </a:prstGeom>
          <a:noFill/>
          <a:ln w="12700">
            <a:solidFill>
              <a:srgbClr val="7FA06B"/>
            </a:solidFill>
            <a:prstDash val="solid"/>
          </a:ln>
        </p:spPr>
      </p:sp>
      <p:sp>
        <p:nvSpPr>
          <p:cNvPr id="25" name="Shape 19"/>
          <p:cNvSpPr/>
          <p:nvPr/>
        </p:nvSpPr>
        <p:spPr>
          <a:xfrm>
            <a:off x="5056632" y="2560320"/>
            <a:ext cx="274320" cy="182880"/>
          </a:xfrm>
          <a:prstGeom prst="roundRect">
            <a:avLst>
              <a:gd name="adj" fmla="val 30000"/>
            </a:avLst>
          </a:prstGeom>
          <a:solidFill>
            <a:srgbClr val="7FA06B"/>
          </a:solidFill>
          <a:ln/>
        </p:spPr>
      </p:sp>
      <p:sp>
        <p:nvSpPr>
          <p:cNvPr id="26" name="Shape 20"/>
          <p:cNvSpPr/>
          <p:nvPr/>
        </p:nvSpPr>
        <p:spPr>
          <a:xfrm flipH="1">
            <a:off x="5193792" y="2304288"/>
            <a:ext cx="246888" cy="256032"/>
          </a:xfrm>
          <a:prstGeom prst="line">
            <a:avLst/>
          </a:prstGeom>
          <a:noFill/>
          <a:ln w="9525">
            <a:solidFill>
              <a:srgbClr val="7FA06B"/>
            </a:solidFill>
            <a:prstDash val="solid"/>
          </a:ln>
        </p:spPr>
      </p:sp>
      <p:sp>
        <p:nvSpPr>
          <p:cNvPr id="27" name="Shape 21"/>
          <p:cNvSpPr/>
          <p:nvPr/>
        </p:nvSpPr>
        <p:spPr>
          <a:xfrm>
            <a:off x="5550408" y="2560320"/>
            <a:ext cx="274320" cy="182880"/>
          </a:xfrm>
          <a:prstGeom prst="roundRect">
            <a:avLst>
              <a:gd name="adj" fmla="val 30000"/>
            </a:avLst>
          </a:prstGeom>
          <a:solidFill>
            <a:srgbClr val="7FA06B"/>
          </a:solidFill>
          <a:ln/>
        </p:spPr>
      </p:sp>
      <p:sp>
        <p:nvSpPr>
          <p:cNvPr id="28" name="Shape 22"/>
          <p:cNvSpPr/>
          <p:nvPr/>
        </p:nvSpPr>
        <p:spPr>
          <a:xfrm>
            <a:off x="5440680" y="2304288"/>
            <a:ext cx="246888" cy="256032"/>
          </a:xfrm>
          <a:prstGeom prst="line">
            <a:avLst/>
          </a:prstGeom>
          <a:noFill/>
          <a:ln w="9525">
            <a:solidFill>
              <a:srgbClr val="7FA06B"/>
            </a:solidFill>
            <a:prstDash val="solid"/>
          </a:ln>
        </p:spPr>
      </p:sp>
      <p:sp>
        <p:nvSpPr>
          <p:cNvPr id="29" name="Shape 23"/>
          <p:cNvSpPr/>
          <p:nvPr/>
        </p:nvSpPr>
        <p:spPr>
          <a:xfrm>
            <a:off x="6062472" y="2560320"/>
            <a:ext cx="274320" cy="182880"/>
          </a:xfrm>
          <a:prstGeom prst="roundRect">
            <a:avLst>
              <a:gd name="adj" fmla="val 30000"/>
            </a:avLst>
          </a:prstGeom>
          <a:solidFill>
            <a:srgbClr val="7FA06B"/>
          </a:solidFill>
          <a:ln/>
        </p:spPr>
      </p:sp>
      <p:sp>
        <p:nvSpPr>
          <p:cNvPr id="30" name="Shape 24"/>
          <p:cNvSpPr/>
          <p:nvPr/>
        </p:nvSpPr>
        <p:spPr>
          <a:xfrm flipH="1">
            <a:off x="6199632" y="2304288"/>
            <a:ext cx="246888" cy="256032"/>
          </a:xfrm>
          <a:prstGeom prst="line">
            <a:avLst/>
          </a:prstGeom>
          <a:noFill/>
          <a:ln w="9525">
            <a:solidFill>
              <a:srgbClr val="7FA06B"/>
            </a:solidFill>
            <a:prstDash val="solid"/>
          </a:ln>
        </p:spPr>
      </p:sp>
      <p:sp>
        <p:nvSpPr>
          <p:cNvPr id="31" name="Shape 25"/>
          <p:cNvSpPr/>
          <p:nvPr/>
        </p:nvSpPr>
        <p:spPr>
          <a:xfrm>
            <a:off x="6556248" y="2560320"/>
            <a:ext cx="274320" cy="182880"/>
          </a:xfrm>
          <a:prstGeom prst="roundRect">
            <a:avLst>
              <a:gd name="adj" fmla="val 30000"/>
            </a:avLst>
          </a:prstGeom>
          <a:solidFill>
            <a:srgbClr val="7FA06B"/>
          </a:solidFill>
          <a:ln/>
        </p:spPr>
      </p:sp>
      <p:sp>
        <p:nvSpPr>
          <p:cNvPr id="32" name="Shape 26"/>
          <p:cNvSpPr/>
          <p:nvPr/>
        </p:nvSpPr>
        <p:spPr>
          <a:xfrm>
            <a:off x="6446520" y="2304288"/>
            <a:ext cx="246888" cy="256032"/>
          </a:xfrm>
          <a:prstGeom prst="line">
            <a:avLst/>
          </a:prstGeom>
          <a:noFill/>
          <a:ln w="9525">
            <a:solidFill>
              <a:srgbClr val="7FA06B"/>
            </a:solidFill>
            <a:prstDash val="solid"/>
          </a:ln>
        </p:spPr>
      </p:sp>
      <p:sp>
        <p:nvSpPr>
          <p:cNvPr id="33" name="Shape 27"/>
          <p:cNvSpPr/>
          <p:nvPr/>
        </p:nvSpPr>
        <p:spPr>
          <a:xfrm>
            <a:off x="7068312" y="2560320"/>
            <a:ext cx="274320" cy="182880"/>
          </a:xfrm>
          <a:prstGeom prst="roundRect">
            <a:avLst>
              <a:gd name="adj" fmla="val 30000"/>
            </a:avLst>
          </a:prstGeom>
          <a:solidFill>
            <a:srgbClr val="7FA06B"/>
          </a:solidFill>
          <a:ln/>
        </p:spPr>
      </p:sp>
      <p:sp>
        <p:nvSpPr>
          <p:cNvPr id="34" name="Shape 28"/>
          <p:cNvSpPr/>
          <p:nvPr/>
        </p:nvSpPr>
        <p:spPr>
          <a:xfrm flipH="1">
            <a:off x="7205472" y="2304288"/>
            <a:ext cx="246888" cy="256032"/>
          </a:xfrm>
          <a:prstGeom prst="line">
            <a:avLst/>
          </a:prstGeom>
          <a:noFill/>
          <a:ln w="9525">
            <a:solidFill>
              <a:srgbClr val="7FA06B"/>
            </a:solidFill>
            <a:prstDash val="solid"/>
          </a:ln>
        </p:spPr>
      </p:sp>
      <p:sp>
        <p:nvSpPr>
          <p:cNvPr id="35" name="Shape 29"/>
          <p:cNvSpPr/>
          <p:nvPr/>
        </p:nvSpPr>
        <p:spPr>
          <a:xfrm>
            <a:off x="7562088" y="2560320"/>
            <a:ext cx="274320" cy="182880"/>
          </a:xfrm>
          <a:prstGeom prst="roundRect">
            <a:avLst>
              <a:gd name="adj" fmla="val 30000"/>
            </a:avLst>
          </a:prstGeom>
          <a:solidFill>
            <a:srgbClr val="7FA06B"/>
          </a:solidFill>
          <a:ln/>
        </p:spPr>
      </p:sp>
      <p:sp>
        <p:nvSpPr>
          <p:cNvPr id="36" name="Shape 30"/>
          <p:cNvSpPr/>
          <p:nvPr/>
        </p:nvSpPr>
        <p:spPr>
          <a:xfrm>
            <a:off x="7452360" y="2304288"/>
            <a:ext cx="246888" cy="256032"/>
          </a:xfrm>
          <a:prstGeom prst="line">
            <a:avLst/>
          </a:prstGeom>
          <a:noFill/>
          <a:ln w="9525">
            <a:solidFill>
              <a:srgbClr val="7FA06B"/>
            </a:solidFill>
            <a:prstDash val="solid"/>
          </a:ln>
        </p:spPr>
      </p:sp>
      <p:sp>
        <p:nvSpPr>
          <p:cNvPr id="37" name="Shape 31"/>
          <p:cNvSpPr/>
          <p:nvPr/>
        </p:nvSpPr>
        <p:spPr>
          <a:xfrm>
            <a:off x="8074152" y="2560320"/>
            <a:ext cx="274320" cy="182880"/>
          </a:xfrm>
          <a:prstGeom prst="roundRect">
            <a:avLst>
              <a:gd name="adj" fmla="val 30000"/>
            </a:avLst>
          </a:prstGeom>
          <a:solidFill>
            <a:srgbClr val="7FA06B"/>
          </a:solidFill>
          <a:ln/>
        </p:spPr>
      </p:sp>
      <p:sp>
        <p:nvSpPr>
          <p:cNvPr id="38" name="Shape 32"/>
          <p:cNvSpPr/>
          <p:nvPr/>
        </p:nvSpPr>
        <p:spPr>
          <a:xfrm flipH="1">
            <a:off x="8211312" y="2304288"/>
            <a:ext cx="246888" cy="256032"/>
          </a:xfrm>
          <a:prstGeom prst="line">
            <a:avLst/>
          </a:prstGeom>
          <a:noFill/>
          <a:ln w="9525">
            <a:solidFill>
              <a:srgbClr val="7FA06B"/>
            </a:solidFill>
            <a:prstDash val="solid"/>
          </a:ln>
        </p:spPr>
      </p:sp>
      <p:sp>
        <p:nvSpPr>
          <p:cNvPr id="39" name="Shape 33"/>
          <p:cNvSpPr/>
          <p:nvPr/>
        </p:nvSpPr>
        <p:spPr>
          <a:xfrm>
            <a:off x="8567928" y="2560320"/>
            <a:ext cx="274320" cy="182880"/>
          </a:xfrm>
          <a:prstGeom prst="roundRect">
            <a:avLst>
              <a:gd name="adj" fmla="val 30000"/>
            </a:avLst>
          </a:prstGeom>
          <a:solidFill>
            <a:srgbClr val="7FA06B"/>
          </a:solidFill>
          <a:ln/>
        </p:spPr>
      </p:sp>
      <p:sp>
        <p:nvSpPr>
          <p:cNvPr id="40" name="Shape 34"/>
          <p:cNvSpPr/>
          <p:nvPr/>
        </p:nvSpPr>
        <p:spPr>
          <a:xfrm>
            <a:off x="8458200" y="2304288"/>
            <a:ext cx="246888" cy="256032"/>
          </a:xfrm>
          <a:prstGeom prst="line">
            <a:avLst/>
          </a:prstGeom>
          <a:noFill/>
          <a:ln w="9525">
            <a:solidFill>
              <a:srgbClr val="7FA06B"/>
            </a:solidFill>
            <a:prstDash val="solid"/>
          </a:ln>
        </p:spPr>
      </p:sp>
      <p:sp>
        <p:nvSpPr>
          <p:cNvPr id="41" name="Shape 35"/>
          <p:cNvSpPr/>
          <p:nvPr/>
        </p:nvSpPr>
        <p:spPr>
          <a:xfrm>
            <a:off x="5074920" y="2980944"/>
            <a:ext cx="182880" cy="164592"/>
          </a:xfrm>
          <a:prstGeom prst="roundRect">
            <a:avLst>
              <a:gd name="adj" fmla="val 33333"/>
            </a:avLst>
          </a:prstGeom>
          <a:solidFill>
            <a:srgbClr val="B7D89A"/>
          </a:solidFill>
          <a:ln/>
        </p:spPr>
      </p:sp>
      <p:sp>
        <p:nvSpPr>
          <p:cNvPr id="42" name="Shape 36"/>
          <p:cNvSpPr/>
          <p:nvPr/>
        </p:nvSpPr>
        <p:spPr>
          <a:xfrm>
            <a:off x="5349240" y="2980944"/>
            <a:ext cx="182880" cy="164592"/>
          </a:xfrm>
          <a:prstGeom prst="roundRect">
            <a:avLst>
              <a:gd name="adj" fmla="val 33333"/>
            </a:avLst>
          </a:prstGeom>
          <a:solidFill>
            <a:srgbClr val="B7D89A"/>
          </a:solidFill>
          <a:ln/>
        </p:spPr>
      </p:sp>
      <p:sp>
        <p:nvSpPr>
          <p:cNvPr id="43" name="Shape 37"/>
          <p:cNvSpPr/>
          <p:nvPr/>
        </p:nvSpPr>
        <p:spPr>
          <a:xfrm>
            <a:off x="5623560" y="2980944"/>
            <a:ext cx="182880" cy="164592"/>
          </a:xfrm>
          <a:prstGeom prst="roundRect">
            <a:avLst>
              <a:gd name="adj" fmla="val 33333"/>
            </a:avLst>
          </a:prstGeom>
          <a:solidFill>
            <a:srgbClr val="B7D89A"/>
          </a:solidFill>
          <a:ln/>
        </p:spPr>
      </p:sp>
      <p:sp>
        <p:nvSpPr>
          <p:cNvPr id="44" name="Shape 38"/>
          <p:cNvSpPr/>
          <p:nvPr/>
        </p:nvSpPr>
        <p:spPr>
          <a:xfrm>
            <a:off x="6080760" y="2980944"/>
            <a:ext cx="182880" cy="164592"/>
          </a:xfrm>
          <a:prstGeom prst="roundRect">
            <a:avLst>
              <a:gd name="adj" fmla="val 33333"/>
            </a:avLst>
          </a:prstGeom>
          <a:solidFill>
            <a:srgbClr val="B7D89A"/>
          </a:solidFill>
          <a:ln/>
        </p:spPr>
      </p:sp>
      <p:sp>
        <p:nvSpPr>
          <p:cNvPr id="45" name="Shape 39"/>
          <p:cNvSpPr/>
          <p:nvPr/>
        </p:nvSpPr>
        <p:spPr>
          <a:xfrm>
            <a:off x="6355080" y="2980944"/>
            <a:ext cx="182880" cy="164592"/>
          </a:xfrm>
          <a:prstGeom prst="roundRect">
            <a:avLst>
              <a:gd name="adj" fmla="val 33333"/>
            </a:avLst>
          </a:prstGeom>
          <a:solidFill>
            <a:srgbClr val="B7D89A"/>
          </a:solidFill>
          <a:ln/>
        </p:spPr>
      </p:sp>
      <p:sp>
        <p:nvSpPr>
          <p:cNvPr id="46" name="Shape 40"/>
          <p:cNvSpPr/>
          <p:nvPr/>
        </p:nvSpPr>
        <p:spPr>
          <a:xfrm>
            <a:off x="6629400" y="2980944"/>
            <a:ext cx="182880" cy="164592"/>
          </a:xfrm>
          <a:prstGeom prst="roundRect">
            <a:avLst>
              <a:gd name="adj" fmla="val 33333"/>
            </a:avLst>
          </a:prstGeom>
          <a:solidFill>
            <a:srgbClr val="B7D89A"/>
          </a:solidFill>
          <a:ln/>
        </p:spPr>
      </p:sp>
      <p:sp>
        <p:nvSpPr>
          <p:cNvPr id="47" name="Shape 41"/>
          <p:cNvSpPr/>
          <p:nvPr/>
        </p:nvSpPr>
        <p:spPr>
          <a:xfrm>
            <a:off x="7086600" y="2980944"/>
            <a:ext cx="182880" cy="164592"/>
          </a:xfrm>
          <a:prstGeom prst="roundRect">
            <a:avLst>
              <a:gd name="adj" fmla="val 33333"/>
            </a:avLst>
          </a:prstGeom>
          <a:solidFill>
            <a:srgbClr val="B7D89A"/>
          </a:solidFill>
          <a:ln/>
        </p:spPr>
      </p:sp>
      <p:sp>
        <p:nvSpPr>
          <p:cNvPr id="48" name="Shape 42"/>
          <p:cNvSpPr/>
          <p:nvPr/>
        </p:nvSpPr>
        <p:spPr>
          <a:xfrm>
            <a:off x="7360920" y="2980944"/>
            <a:ext cx="182880" cy="164592"/>
          </a:xfrm>
          <a:prstGeom prst="roundRect">
            <a:avLst>
              <a:gd name="adj" fmla="val 33333"/>
            </a:avLst>
          </a:prstGeom>
          <a:solidFill>
            <a:srgbClr val="B7D89A"/>
          </a:solidFill>
          <a:ln/>
        </p:spPr>
      </p:sp>
      <p:sp>
        <p:nvSpPr>
          <p:cNvPr id="49" name="Shape 43"/>
          <p:cNvSpPr/>
          <p:nvPr/>
        </p:nvSpPr>
        <p:spPr>
          <a:xfrm>
            <a:off x="7635240" y="2980944"/>
            <a:ext cx="182880" cy="164592"/>
          </a:xfrm>
          <a:prstGeom prst="roundRect">
            <a:avLst>
              <a:gd name="adj" fmla="val 33333"/>
            </a:avLst>
          </a:prstGeom>
          <a:solidFill>
            <a:srgbClr val="B7D89A"/>
          </a:solidFill>
          <a:ln/>
        </p:spPr>
      </p:sp>
      <p:sp>
        <p:nvSpPr>
          <p:cNvPr id="50" name="Shape 44"/>
          <p:cNvSpPr/>
          <p:nvPr/>
        </p:nvSpPr>
        <p:spPr>
          <a:xfrm>
            <a:off x="8092440" y="2980944"/>
            <a:ext cx="182880" cy="164592"/>
          </a:xfrm>
          <a:prstGeom prst="roundRect">
            <a:avLst>
              <a:gd name="adj" fmla="val 33333"/>
            </a:avLst>
          </a:prstGeom>
          <a:solidFill>
            <a:srgbClr val="B7D89A"/>
          </a:solidFill>
          <a:ln/>
        </p:spPr>
      </p:sp>
      <p:sp>
        <p:nvSpPr>
          <p:cNvPr id="51" name="Shape 45"/>
          <p:cNvSpPr/>
          <p:nvPr/>
        </p:nvSpPr>
        <p:spPr>
          <a:xfrm>
            <a:off x="8366760" y="2980944"/>
            <a:ext cx="182880" cy="164592"/>
          </a:xfrm>
          <a:prstGeom prst="roundRect">
            <a:avLst>
              <a:gd name="adj" fmla="val 33333"/>
            </a:avLst>
          </a:prstGeom>
          <a:solidFill>
            <a:srgbClr val="B7D89A"/>
          </a:solidFill>
          <a:ln/>
        </p:spPr>
      </p:sp>
      <p:sp>
        <p:nvSpPr>
          <p:cNvPr id="52" name="Shape 46"/>
          <p:cNvSpPr/>
          <p:nvPr/>
        </p:nvSpPr>
        <p:spPr>
          <a:xfrm>
            <a:off x="8641080" y="2980944"/>
            <a:ext cx="182880" cy="164592"/>
          </a:xfrm>
          <a:prstGeom prst="roundRect">
            <a:avLst>
              <a:gd name="adj" fmla="val 33333"/>
            </a:avLst>
          </a:prstGeom>
          <a:solidFill>
            <a:srgbClr val="B7D89A"/>
          </a:solidFill>
          <a:ln/>
        </p:spPr>
      </p:sp>
      <p:sp>
        <p:nvSpPr>
          <p:cNvPr id="53" name="Text 47"/>
          <p:cNvSpPr/>
          <p:nvPr/>
        </p:nvSpPr>
        <p:spPr>
          <a:xfrm>
            <a:off x="5120640" y="3657600"/>
            <a:ext cx="3657600" cy="777240"/>
          </a:xfrm>
          <a:prstGeom prst="rect">
            <a:avLst/>
          </a:prstGeom>
          <a:noFill/>
          <a:ln/>
        </p:spPr>
        <p:txBody>
          <a:bodyPr wrap="square" lIns="0" tIns="0" rIns="0" bIns="0" rtlCol="0" anchor="ctr"/>
          <a:lstStyle/>
          <a:p>
            <a:pPr algn="ctr" indent="0" marL="0">
              <a:buNone/>
            </a:pPr>
            <a:r>
              <a:rPr lang="en-US" sz="1400" b="1" i="1" dirty="0">
                <a:solidFill>
                  <a:srgbClr val="3E5C3A"/>
                </a:solidFill>
                <a:latin typeface="Cambria" pitchFamily="34" charset="0"/>
                <a:ea typeface="Cambria" pitchFamily="34" charset="-122"/>
                <a:cs typeface="Cambria" pitchFamily="34" charset="-120"/>
              </a:rPr>
              <a:t>The corporation got to be an organization.</a:t>
            </a:r>
            <a:endParaRPr lang="en-US" sz="1400" dirty="0"/>
          </a:p>
          <a:p>
            <a:pPr algn="ctr" indent="0" marL="0">
              <a:buNone/>
            </a:pPr>
            <a:r>
              <a:rPr lang="en-US" sz="1400" b="1" i="1" dirty="0">
                <a:solidFill>
                  <a:srgbClr val="3E5C3A"/>
                </a:solidFill>
                <a:latin typeface="Cambria" pitchFamily="34" charset="0"/>
                <a:ea typeface="Cambria" pitchFamily="34" charset="-122"/>
                <a:cs typeface="Cambria" pitchFamily="34" charset="-120"/>
              </a:rPr>
              <a:t>The individual got to join one.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17240F"/>
                </a:solidFill>
                <a:latin typeface="Cambria" pitchFamily="34" charset="0"/>
                <a:ea typeface="Cambria" pitchFamily="34" charset="-122"/>
                <a:cs typeface="Cambria" pitchFamily="34" charset="-120"/>
              </a:rPr>
              <a:t>You draw it. It runs.</a:t>
            </a:r>
            <a:endParaRPr lang="en-US" sz="3200" dirty="0"/>
          </a:p>
        </p:txBody>
      </p:sp>
      <p:sp>
        <p:nvSpPr>
          <p:cNvPr id="3" name="Shape 1"/>
          <p:cNvSpPr/>
          <p:nvPr/>
        </p:nvSpPr>
        <p:spPr>
          <a:xfrm>
            <a:off x="502920" y="1188720"/>
            <a:ext cx="457200" cy="457200"/>
          </a:xfrm>
          <a:prstGeom prst="ellipse">
            <a:avLst/>
          </a:prstGeom>
          <a:solidFill>
            <a:srgbClr val="F4FBF0"/>
          </a:solidFill>
          <a:ln/>
        </p:spPr>
      </p:sp>
      <p:pic>
        <p:nvPicPr>
          <p:cNvPr id="4" name="Image 0" descr="preencoded.png">    </p:cNvPr>
          <p:cNvPicPr>
            <a:picLocks noChangeAspect="1"/>
          </p:cNvPicPr>
          <p:nvPr/>
        </p:nvPicPr>
        <p:blipFill>
          <a:blip r:embed="rId1"/>
          <a:stretch>
            <a:fillRect/>
          </a:stretch>
        </p:blipFill>
        <p:spPr>
          <a:xfrm>
            <a:off x="612648" y="1298448"/>
            <a:ext cx="237744" cy="237744"/>
          </a:xfrm>
          <a:prstGeom prst="rect">
            <a:avLst/>
          </a:prstGeom>
        </p:spPr>
      </p:pic>
      <p:sp>
        <p:nvSpPr>
          <p:cNvPr id="5" name="Text 2"/>
          <p:cNvSpPr/>
          <p:nvPr/>
        </p:nvSpPr>
        <p:spPr>
          <a:xfrm>
            <a:off x="1143000" y="1115568"/>
            <a:ext cx="3520440" cy="1005840"/>
          </a:xfrm>
          <a:prstGeom prst="rect">
            <a:avLst/>
          </a:prstGeom>
          <a:noFill/>
          <a:ln/>
        </p:spPr>
        <p:txBody>
          <a:bodyPr wrap="square" lIns="0" tIns="0" rIns="0" bIns="0" rtlCol="0" anchor="t"/>
          <a:lstStyle/>
          <a:p>
            <a:pPr indent="0" marL="0">
              <a:buNone/>
            </a:pPr>
            <a:r>
              <a:rPr lang="en-US" sz="1550" b="1" dirty="0">
                <a:solidFill>
                  <a:srgbClr val="17240F"/>
                </a:solidFill>
                <a:latin typeface="Calibri" pitchFamily="34" charset="0"/>
                <a:ea typeface="Calibri" pitchFamily="34" charset="-122"/>
                <a:cs typeface="Calibri" pitchFamily="34" charset="-120"/>
              </a:rPr>
              <a:t>Every box is an AI agent</a:t>
            </a:r>
            <a:endParaRPr lang="en-US" sz="1550" dirty="0"/>
          </a:p>
          <a:p>
            <a:pPr indent="0" marL="0">
              <a:buNone/>
            </a:pPr>
            <a:r>
              <a:rPr lang="en-US" sz="1200" dirty="0">
                <a:solidFill>
                  <a:srgbClr val="5C665A"/>
                </a:solidFill>
                <a:latin typeface="Calibri" pitchFamily="34" charset="0"/>
                <a:ea typeface="Calibri" pitchFamily="34" charset="-122"/>
                <a:cs typeface="Calibri" pitchFamily="34" charset="-120"/>
              </a:rPr>
              <a:t>A role from the catalog, an isolated workspace, durable memory, a salary.</a:t>
            </a:r>
            <a:endParaRPr lang="en-US" sz="1550" dirty="0"/>
          </a:p>
        </p:txBody>
      </p:sp>
      <p:sp>
        <p:nvSpPr>
          <p:cNvPr id="6" name="Shape 3"/>
          <p:cNvSpPr/>
          <p:nvPr/>
        </p:nvSpPr>
        <p:spPr>
          <a:xfrm>
            <a:off x="502920" y="2240280"/>
            <a:ext cx="457200" cy="457200"/>
          </a:xfrm>
          <a:prstGeom prst="ellipse">
            <a:avLst/>
          </a:prstGeom>
          <a:solidFill>
            <a:srgbClr val="F4FBF0"/>
          </a:solidFill>
          <a:ln/>
        </p:spPr>
      </p:sp>
      <p:pic>
        <p:nvPicPr>
          <p:cNvPr id="7" name="Image 1" descr="preencoded.png">    </p:cNvPr>
          <p:cNvPicPr>
            <a:picLocks noChangeAspect="1"/>
          </p:cNvPicPr>
          <p:nvPr/>
        </p:nvPicPr>
        <p:blipFill>
          <a:blip r:embed="rId2"/>
          <a:stretch>
            <a:fillRect/>
          </a:stretch>
        </p:blipFill>
        <p:spPr>
          <a:xfrm>
            <a:off x="612648" y="2350008"/>
            <a:ext cx="237744" cy="237744"/>
          </a:xfrm>
          <a:prstGeom prst="rect">
            <a:avLst/>
          </a:prstGeom>
        </p:spPr>
      </p:pic>
      <p:sp>
        <p:nvSpPr>
          <p:cNvPr id="8" name="Text 4"/>
          <p:cNvSpPr/>
          <p:nvPr/>
        </p:nvSpPr>
        <p:spPr>
          <a:xfrm>
            <a:off x="1143000" y="2167128"/>
            <a:ext cx="3520440" cy="1005840"/>
          </a:xfrm>
          <a:prstGeom prst="rect">
            <a:avLst/>
          </a:prstGeom>
          <a:noFill/>
          <a:ln/>
        </p:spPr>
        <p:txBody>
          <a:bodyPr wrap="square" lIns="0" tIns="0" rIns="0" bIns="0" rtlCol="0" anchor="t"/>
          <a:lstStyle/>
          <a:p>
            <a:pPr indent="0" marL="0">
              <a:buNone/>
            </a:pPr>
            <a:r>
              <a:rPr lang="en-US" sz="1550" b="1" dirty="0">
                <a:solidFill>
                  <a:srgbClr val="17240F"/>
                </a:solidFill>
                <a:latin typeface="Calibri" pitchFamily="34" charset="0"/>
                <a:ea typeface="Calibri" pitchFamily="34" charset="-122"/>
                <a:cs typeface="Calibri" pitchFamily="34" charset="-120"/>
              </a:rPr>
              <a:t>Every line is real</a:t>
            </a:r>
            <a:endParaRPr lang="en-US" sz="1550" dirty="0"/>
          </a:p>
          <a:p>
            <a:pPr indent="0" marL="0">
              <a:buNone/>
            </a:pPr>
            <a:r>
              <a:rPr lang="en-US" sz="1200" dirty="0">
                <a:solidFill>
                  <a:srgbClr val="5C665A"/>
                </a:solidFill>
                <a:latin typeface="Calibri" pitchFamily="34" charset="0"/>
                <a:ea typeface="Calibri" pitchFamily="34" charset="-122"/>
                <a:cs typeface="Calibri" pitchFamily="34" charset="-120"/>
              </a:rPr>
              <a:t>Managers delegate only to their reports. Two teams can’t even talk unless the chart says so. No back-channels the chart didn’t create.</a:t>
            </a:r>
            <a:endParaRPr lang="en-US" sz="1550" dirty="0"/>
          </a:p>
        </p:txBody>
      </p:sp>
      <p:sp>
        <p:nvSpPr>
          <p:cNvPr id="9" name="Shape 5"/>
          <p:cNvSpPr/>
          <p:nvPr/>
        </p:nvSpPr>
        <p:spPr>
          <a:xfrm>
            <a:off x="502920" y="3291840"/>
            <a:ext cx="457200" cy="457200"/>
          </a:xfrm>
          <a:prstGeom prst="ellipse">
            <a:avLst/>
          </a:prstGeom>
          <a:solidFill>
            <a:srgbClr val="F4FBF0"/>
          </a:solidFill>
          <a:ln/>
        </p:spPr>
      </p:sp>
      <p:pic>
        <p:nvPicPr>
          <p:cNvPr id="10" name="Image 2" descr="preencoded.png">    </p:cNvPr>
          <p:cNvPicPr>
            <a:picLocks noChangeAspect="1"/>
          </p:cNvPicPr>
          <p:nvPr/>
        </p:nvPicPr>
        <p:blipFill>
          <a:blip r:embed="rId3"/>
          <a:stretch>
            <a:fillRect/>
          </a:stretch>
        </p:blipFill>
        <p:spPr>
          <a:xfrm>
            <a:off x="612648" y="3401568"/>
            <a:ext cx="237744" cy="237744"/>
          </a:xfrm>
          <a:prstGeom prst="rect">
            <a:avLst/>
          </a:prstGeom>
        </p:spPr>
      </p:pic>
      <p:sp>
        <p:nvSpPr>
          <p:cNvPr id="11" name="Text 6"/>
          <p:cNvSpPr/>
          <p:nvPr/>
        </p:nvSpPr>
        <p:spPr>
          <a:xfrm>
            <a:off x="1143000" y="3218688"/>
            <a:ext cx="3520440" cy="1005840"/>
          </a:xfrm>
          <a:prstGeom prst="rect">
            <a:avLst/>
          </a:prstGeom>
          <a:noFill/>
          <a:ln/>
        </p:spPr>
        <p:txBody>
          <a:bodyPr wrap="square" lIns="0" tIns="0" rIns="0" bIns="0" rtlCol="0" anchor="t"/>
          <a:lstStyle/>
          <a:p>
            <a:pPr indent="0" marL="0">
              <a:buNone/>
            </a:pPr>
            <a:r>
              <a:rPr lang="en-US" sz="1550" b="1" dirty="0">
                <a:solidFill>
                  <a:srgbClr val="17240F"/>
                </a:solidFill>
                <a:latin typeface="Calibri" pitchFamily="34" charset="0"/>
                <a:ea typeface="Calibri" pitchFamily="34" charset="-122"/>
                <a:cs typeface="Calibri" pitchFamily="34" charset="-120"/>
              </a:rPr>
              <a:t>Work flows back up</a:t>
            </a:r>
            <a:endParaRPr lang="en-US" sz="1550" dirty="0"/>
          </a:p>
          <a:p>
            <a:pPr indent="0" marL="0">
              <a:buNone/>
            </a:pPr>
            <a:r>
              <a:rPr lang="en-US" sz="1200" dirty="0">
                <a:solidFill>
                  <a:srgbClr val="5C665A"/>
                </a:solidFill>
                <a:latin typeface="Calibri" pitchFamily="34" charset="0"/>
                <a:ea typeface="Calibri" pitchFamily="34" charset="-122"/>
                <a:cs typeface="Calibri" pitchFamily="34" charset="-120"/>
              </a:rPr>
              <a:t>Pull requests, test reports, drafts — reviewed, accepted against a contract, rolled up to you.</a:t>
            </a:r>
            <a:endParaRPr lang="en-US" sz="1550" dirty="0"/>
          </a:p>
        </p:txBody>
      </p:sp>
      <p:sp>
        <p:nvSpPr>
          <p:cNvPr id="12" name="Text 7"/>
          <p:cNvSpPr/>
          <p:nvPr/>
        </p:nvSpPr>
        <p:spPr>
          <a:xfrm>
            <a:off x="457200" y="4434840"/>
            <a:ext cx="4572000" cy="502920"/>
          </a:xfrm>
          <a:prstGeom prst="rect">
            <a:avLst/>
          </a:prstGeom>
          <a:noFill/>
          <a:ln/>
        </p:spPr>
        <p:txBody>
          <a:bodyPr wrap="square" lIns="0" tIns="0" rIns="0" bIns="0" rtlCol="0" anchor="ctr"/>
          <a:lstStyle/>
          <a:p>
            <a:pPr indent="0" marL="0">
              <a:buNone/>
            </a:pPr>
            <a:r>
              <a:rPr lang="en-US" sz="1350" b="1" i="1" dirty="0">
                <a:solidFill>
                  <a:srgbClr val="3E5C3A"/>
                </a:solidFill>
                <a:latin typeface="Cambria" pitchFamily="34" charset="0"/>
                <a:ea typeface="Cambria" pitchFamily="34" charset="-122"/>
                <a:cs typeface="Cambria" pitchFamily="34" charset="-120"/>
              </a:rPr>
              <a:t>The org chart used to be the most fictional document in the building.  Not anymore.</a:t>
            </a:r>
            <a:endParaRPr lang="en-US" sz="1350" dirty="0"/>
          </a:p>
        </p:txBody>
      </p:sp>
      <p:sp>
        <p:nvSpPr>
          <p:cNvPr id="13" name="Shape 8"/>
          <p:cNvSpPr/>
          <p:nvPr/>
        </p:nvSpPr>
        <p:spPr>
          <a:xfrm>
            <a:off x="6309360" y="868680"/>
            <a:ext cx="1188720" cy="310896"/>
          </a:xfrm>
          <a:prstGeom prst="roundRect">
            <a:avLst>
              <a:gd name="adj" fmla="val 17647"/>
            </a:avLst>
          </a:prstGeom>
          <a:solidFill>
            <a:srgbClr val="D8A03A"/>
          </a:solidFill>
          <a:ln/>
        </p:spPr>
      </p:sp>
      <p:sp>
        <p:nvSpPr>
          <p:cNvPr id="14" name="Text 9"/>
          <p:cNvSpPr/>
          <p:nvPr/>
        </p:nvSpPr>
        <p:spPr>
          <a:xfrm>
            <a:off x="6172200" y="868680"/>
            <a:ext cx="1463040" cy="310896"/>
          </a:xfrm>
          <a:prstGeom prst="rect">
            <a:avLst/>
          </a:prstGeom>
          <a:noFill/>
          <a:ln/>
        </p:spPr>
        <p:txBody>
          <a:bodyPr wrap="square" lIns="0" tIns="0" rIns="0" bIns="0" rtlCol="0" anchor="ctr"/>
          <a:lstStyle/>
          <a:p>
            <a:pPr algn="ctr" indent="0" marL="0">
              <a:buNone/>
            </a:pPr>
            <a:r>
              <a:rPr lang="en-US" sz="1000" b="1" dirty="0">
                <a:solidFill>
                  <a:srgbClr val="17240F"/>
                </a:solidFill>
                <a:latin typeface="Calibri" pitchFamily="34" charset="0"/>
                <a:ea typeface="Calibri" pitchFamily="34" charset="-122"/>
                <a:cs typeface="Calibri" pitchFamily="34" charset="-120"/>
              </a:rPr>
              <a:t>YOUR INTENT</a:t>
            </a:r>
            <a:endParaRPr lang="en-US" sz="1000" dirty="0"/>
          </a:p>
        </p:txBody>
      </p:sp>
      <p:sp>
        <p:nvSpPr>
          <p:cNvPr id="15" name="Shape 10"/>
          <p:cNvSpPr/>
          <p:nvPr/>
        </p:nvSpPr>
        <p:spPr>
          <a:xfrm>
            <a:off x="6355080" y="1600200"/>
            <a:ext cx="1097280" cy="292608"/>
          </a:xfrm>
          <a:prstGeom prst="roundRect">
            <a:avLst>
              <a:gd name="adj" fmla="val 18750"/>
            </a:avLst>
          </a:prstGeom>
          <a:solidFill>
            <a:srgbClr val="3E5C3A"/>
          </a:solidFill>
          <a:ln/>
        </p:spPr>
      </p:sp>
      <p:sp>
        <p:nvSpPr>
          <p:cNvPr id="16" name="Text 11"/>
          <p:cNvSpPr/>
          <p:nvPr/>
        </p:nvSpPr>
        <p:spPr>
          <a:xfrm>
            <a:off x="6217920" y="1600200"/>
            <a:ext cx="13716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CEO agent</a:t>
            </a:r>
            <a:endParaRPr lang="en-US" sz="1000" dirty="0"/>
          </a:p>
        </p:txBody>
      </p:sp>
      <p:sp>
        <p:nvSpPr>
          <p:cNvPr id="17" name="Shape 12"/>
          <p:cNvSpPr/>
          <p:nvPr/>
        </p:nvSpPr>
        <p:spPr>
          <a:xfrm>
            <a:off x="6903720" y="1179576"/>
            <a:ext cx="0" cy="420624"/>
          </a:xfrm>
          <a:prstGeom prst="line">
            <a:avLst/>
          </a:prstGeom>
          <a:noFill/>
          <a:ln w="19050">
            <a:solidFill>
              <a:srgbClr val="9C6F17"/>
            </a:solidFill>
            <a:prstDash val="solid"/>
          </a:ln>
        </p:spPr>
      </p:sp>
      <p:sp>
        <p:nvSpPr>
          <p:cNvPr id="18" name="Shape 13"/>
          <p:cNvSpPr/>
          <p:nvPr/>
        </p:nvSpPr>
        <p:spPr>
          <a:xfrm>
            <a:off x="5234940" y="2377440"/>
            <a:ext cx="960120" cy="292608"/>
          </a:xfrm>
          <a:prstGeom prst="roundRect">
            <a:avLst>
              <a:gd name="adj" fmla="val 18750"/>
            </a:avLst>
          </a:prstGeom>
          <a:solidFill>
            <a:srgbClr val="5B7F52"/>
          </a:solidFill>
          <a:ln/>
        </p:spPr>
      </p:sp>
      <p:sp>
        <p:nvSpPr>
          <p:cNvPr id="19" name="Text 14"/>
          <p:cNvSpPr/>
          <p:nvPr/>
        </p:nvSpPr>
        <p:spPr>
          <a:xfrm>
            <a:off x="5097780" y="2377440"/>
            <a:ext cx="12344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Eng lead</a:t>
            </a:r>
            <a:endParaRPr lang="en-US" sz="1000" dirty="0"/>
          </a:p>
        </p:txBody>
      </p:sp>
      <p:sp>
        <p:nvSpPr>
          <p:cNvPr id="20" name="Shape 15"/>
          <p:cNvSpPr/>
          <p:nvPr/>
        </p:nvSpPr>
        <p:spPr>
          <a:xfrm flipH="1">
            <a:off x="5715000" y="1892808"/>
            <a:ext cx="1188720" cy="484632"/>
          </a:xfrm>
          <a:prstGeom prst="line">
            <a:avLst/>
          </a:prstGeom>
          <a:noFill/>
          <a:ln w="15875">
            <a:solidFill>
              <a:srgbClr val="7FA06B"/>
            </a:solidFill>
            <a:prstDash val="solid"/>
          </a:ln>
        </p:spPr>
      </p:sp>
      <p:sp>
        <p:nvSpPr>
          <p:cNvPr id="21" name="Shape 16"/>
          <p:cNvSpPr/>
          <p:nvPr/>
        </p:nvSpPr>
        <p:spPr>
          <a:xfrm>
            <a:off x="7612380" y="2377440"/>
            <a:ext cx="960120" cy="292608"/>
          </a:xfrm>
          <a:prstGeom prst="roundRect">
            <a:avLst>
              <a:gd name="adj" fmla="val 18750"/>
            </a:avLst>
          </a:prstGeom>
          <a:solidFill>
            <a:srgbClr val="5B7F52"/>
          </a:solidFill>
          <a:ln/>
        </p:spPr>
      </p:sp>
      <p:sp>
        <p:nvSpPr>
          <p:cNvPr id="22" name="Text 17"/>
          <p:cNvSpPr/>
          <p:nvPr/>
        </p:nvSpPr>
        <p:spPr>
          <a:xfrm>
            <a:off x="7475220" y="2377440"/>
            <a:ext cx="12344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Mktg lead</a:t>
            </a:r>
            <a:endParaRPr lang="en-US" sz="1000" dirty="0"/>
          </a:p>
        </p:txBody>
      </p:sp>
      <p:sp>
        <p:nvSpPr>
          <p:cNvPr id="23" name="Shape 18"/>
          <p:cNvSpPr/>
          <p:nvPr/>
        </p:nvSpPr>
        <p:spPr>
          <a:xfrm>
            <a:off x="6903720" y="1892808"/>
            <a:ext cx="1188720" cy="484632"/>
          </a:xfrm>
          <a:prstGeom prst="line">
            <a:avLst/>
          </a:prstGeom>
          <a:noFill/>
          <a:ln w="15875">
            <a:solidFill>
              <a:srgbClr val="7FA06B"/>
            </a:solidFill>
            <a:prstDash val="solid"/>
          </a:ln>
        </p:spPr>
      </p:sp>
      <p:sp>
        <p:nvSpPr>
          <p:cNvPr id="24" name="Shape 19"/>
          <p:cNvSpPr/>
          <p:nvPr/>
        </p:nvSpPr>
        <p:spPr>
          <a:xfrm>
            <a:off x="4892040" y="3200400"/>
            <a:ext cx="731520" cy="292608"/>
          </a:xfrm>
          <a:prstGeom prst="roundRect">
            <a:avLst>
              <a:gd name="adj" fmla="val 18750"/>
            </a:avLst>
          </a:prstGeom>
          <a:solidFill>
            <a:srgbClr val="7FA06B"/>
          </a:solidFill>
          <a:ln/>
        </p:spPr>
      </p:sp>
      <p:sp>
        <p:nvSpPr>
          <p:cNvPr id="25" name="Text 20"/>
          <p:cNvSpPr/>
          <p:nvPr/>
        </p:nvSpPr>
        <p:spPr>
          <a:xfrm>
            <a:off x="4754880" y="3200400"/>
            <a:ext cx="10058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Engineer</a:t>
            </a:r>
            <a:endParaRPr lang="en-US" sz="900" dirty="0"/>
          </a:p>
        </p:txBody>
      </p:sp>
      <p:sp>
        <p:nvSpPr>
          <p:cNvPr id="26" name="Shape 21"/>
          <p:cNvSpPr/>
          <p:nvPr/>
        </p:nvSpPr>
        <p:spPr>
          <a:xfrm flipH="1">
            <a:off x="5257800" y="2670048"/>
            <a:ext cx="457200" cy="530352"/>
          </a:xfrm>
          <a:prstGeom prst="line">
            <a:avLst/>
          </a:prstGeom>
          <a:noFill/>
          <a:ln w="12700">
            <a:solidFill>
              <a:srgbClr val="7FA06B"/>
            </a:solidFill>
            <a:prstDash val="solid"/>
          </a:ln>
        </p:spPr>
      </p:sp>
      <p:sp>
        <p:nvSpPr>
          <p:cNvPr id="27" name="Shape 22"/>
          <p:cNvSpPr/>
          <p:nvPr/>
        </p:nvSpPr>
        <p:spPr>
          <a:xfrm>
            <a:off x="5879592" y="3200400"/>
            <a:ext cx="731520" cy="292608"/>
          </a:xfrm>
          <a:prstGeom prst="roundRect">
            <a:avLst>
              <a:gd name="adj" fmla="val 18750"/>
            </a:avLst>
          </a:prstGeom>
          <a:solidFill>
            <a:srgbClr val="7FA06B"/>
          </a:solidFill>
          <a:ln/>
        </p:spPr>
      </p:sp>
      <p:sp>
        <p:nvSpPr>
          <p:cNvPr id="28" name="Text 23"/>
          <p:cNvSpPr/>
          <p:nvPr/>
        </p:nvSpPr>
        <p:spPr>
          <a:xfrm>
            <a:off x="5742432" y="3200400"/>
            <a:ext cx="10058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QA</a:t>
            </a:r>
            <a:endParaRPr lang="en-US" sz="900" dirty="0"/>
          </a:p>
        </p:txBody>
      </p:sp>
      <p:sp>
        <p:nvSpPr>
          <p:cNvPr id="29" name="Shape 24"/>
          <p:cNvSpPr/>
          <p:nvPr/>
        </p:nvSpPr>
        <p:spPr>
          <a:xfrm>
            <a:off x="5715000" y="2670048"/>
            <a:ext cx="530352" cy="530352"/>
          </a:xfrm>
          <a:prstGeom prst="line">
            <a:avLst/>
          </a:prstGeom>
          <a:noFill/>
          <a:ln w="12700">
            <a:solidFill>
              <a:srgbClr val="7FA06B"/>
            </a:solidFill>
            <a:prstDash val="solid"/>
          </a:ln>
        </p:spPr>
      </p:sp>
      <p:sp>
        <p:nvSpPr>
          <p:cNvPr id="30" name="Shape 25"/>
          <p:cNvSpPr/>
          <p:nvPr/>
        </p:nvSpPr>
        <p:spPr>
          <a:xfrm>
            <a:off x="7196328" y="3200400"/>
            <a:ext cx="731520" cy="292608"/>
          </a:xfrm>
          <a:prstGeom prst="roundRect">
            <a:avLst>
              <a:gd name="adj" fmla="val 18750"/>
            </a:avLst>
          </a:prstGeom>
          <a:solidFill>
            <a:srgbClr val="7FA06B"/>
          </a:solidFill>
          <a:ln/>
        </p:spPr>
      </p:sp>
      <p:sp>
        <p:nvSpPr>
          <p:cNvPr id="31" name="Text 26"/>
          <p:cNvSpPr/>
          <p:nvPr/>
        </p:nvSpPr>
        <p:spPr>
          <a:xfrm>
            <a:off x="7059168" y="3200400"/>
            <a:ext cx="10058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Writer</a:t>
            </a:r>
            <a:endParaRPr lang="en-US" sz="900" dirty="0"/>
          </a:p>
        </p:txBody>
      </p:sp>
      <p:sp>
        <p:nvSpPr>
          <p:cNvPr id="32" name="Shape 27"/>
          <p:cNvSpPr/>
          <p:nvPr/>
        </p:nvSpPr>
        <p:spPr>
          <a:xfrm flipH="1">
            <a:off x="7562088" y="2670048"/>
            <a:ext cx="530352" cy="530352"/>
          </a:xfrm>
          <a:prstGeom prst="line">
            <a:avLst/>
          </a:prstGeom>
          <a:noFill/>
          <a:ln w="12700">
            <a:solidFill>
              <a:srgbClr val="7FA06B"/>
            </a:solidFill>
            <a:prstDash val="solid"/>
          </a:ln>
        </p:spPr>
      </p:sp>
      <p:sp>
        <p:nvSpPr>
          <p:cNvPr id="33" name="Shape 28"/>
          <p:cNvSpPr/>
          <p:nvPr/>
        </p:nvSpPr>
        <p:spPr>
          <a:xfrm>
            <a:off x="8183880" y="3200400"/>
            <a:ext cx="731520" cy="292608"/>
          </a:xfrm>
          <a:prstGeom prst="roundRect">
            <a:avLst>
              <a:gd name="adj" fmla="val 18750"/>
            </a:avLst>
          </a:prstGeom>
          <a:solidFill>
            <a:srgbClr val="7FA06B"/>
          </a:solidFill>
          <a:ln/>
        </p:spPr>
      </p:sp>
      <p:sp>
        <p:nvSpPr>
          <p:cNvPr id="34" name="Text 29"/>
          <p:cNvSpPr/>
          <p:nvPr/>
        </p:nvSpPr>
        <p:spPr>
          <a:xfrm>
            <a:off x="8046720" y="3200400"/>
            <a:ext cx="10058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Editor</a:t>
            </a:r>
            <a:endParaRPr lang="en-US" sz="900" dirty="0"/>
          </a:p>
        </p:txBody>
      </p:sp>
      <p:sp>
        <p:nvSpPr>
          <p:cNvPr id="35" name="Shape 30"/>
          <p:cNvSpPr/>
          <p:nvPr/>
        </p:nvSpPr>
        <p:spPr>
          <a:xfrm>
            <a:off x="8092440" y="2670048"/>
            <a:ext cx="457200" cy="530352"/>
          </a:xfrm>
          <a:prstGeom prst="line">
            <a:avLst/>
          </a:prstGeom>
          <a:noFill/>
          <a:ln w="12700">
            <a:solidFill>
              <a:srgbClr val="7FA06B"/>
            </a:solidFill>
            <a:prstDash val="solid"/>
          </a:ln>
        </p:spPr>
      </p:sp>
      <p:sp>
        <p:nvSpPr>
          <p:cNvPr id="36" name="Text 31"/>
          <p:cNvSpPr/>
          <p:nvPr/>
        </p:nvSpPr>
        <p:spPr>
          <a:xfrm>
            <a:off x="5212080" y="3794760"/>
            <a:ext cx="3383280" cy="320040"/>
          </a:xfrm>
          <a:prstGeom prst="rect">
            <a:avLst/>
          </a:prstGeom>
          <a:noFill/>
          <a:ln/>
        </p:spPr>
        <p:txBody>
          <a:bodyPr wrap="square" lIns="0" tIns="0" rIns="0" bIns="0" rtlCol="0" anchor="ctr"/>
          <a:lstStyle/>
          <a:p>
            <a:pPr algn="ctr" indent="0" marL="0">
              <a:buNone/>
            </a:pPr>
            <a:r>
              <a:rPr lang="en-US" sz="1100" i="1" dirty="0">
                <a:solidFill>
                  <a:srgbClr val="5C665A"/>
                </a:solidFill>
                <a:latin typeface="Calibri" pitchFamily="34" charset="0"/>
                <a:ea typeface="Calibri" pitchFamily="34" charset="-122"/>
                <a:cs typeface="Calibri" pitchFamily="34" charset="-120"/>
              </a:rPr>
              <a:t>delegation flows down • artifacts flow up</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240F"/>
        </a:solidFill>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3000" b="1" dirty="0">
                <a:solidFill>
                  <a:srgbClr val="F4FBF0"/>
                </a:solidFill>
                <a:latin typeface="Cambria" pitchFamily="34" charset="0"/>
                <a:ea typeface="Cambria" pitchFamily="34" charset="-122"/>
                <a:cs typeface="Cambria" pitchFamily="34" charset="-120"/>
              </a:rPr>
              <a:t>This part isn’t a mockup</a:t>
            </a:r>
            <a:endParaRPr lang="en-US" sz="3000" dirty="0"/>
          </a:p>
        </p:txBody>
      </p:sp>
      <p:sp>
        <p:nvSpPr>
          <p:cNvPr id="3" name="Text 1"/>
          <p:cNvSpPr/>
          <p:nvPr/>
        </p:nvSpPr>
        <p:spPr>
          <a:xfrm>
            <a:off x="457200" y="749808"/>
            <a:ext cx="8229600" cy="347472"/>
          </a:xfrm>
          <a:prstGeom prst="rect">
            <a:avLst/>
          </a:prstGeom>
          <a:noFill/>
          <a:ln/>
        </p:spPr>
        <p:txBody>
          <a:bodyPr wrap="square" lIns="0" tIns="0" rIns="0" bIns="0" rtlCol="0" anchor="ctr"/>
          <a:lstStyle/>
          <a:p>
            <a:pPr indent="0" marL="0">
              <a:buNone/>
            </a:pPr>
            <a:r>
              <a:rPr lang="en-US" sz="1250" i="1" dirty="0">
                <a:solidFill>
                  <a:srgbClr val="7FA06B"/>
                </a:solidFill>
                <a:latin typeface="Calibri" pitchFamily="34" charset="0"/>
                <a:ea typeface="Calibri" pitchFamily="34" charset="-122"/>
                <a:cs typeface="Calibri" pitchFamily="34" charset="-120"/>
              </a:rPr>
              <a:t>The Phase-1 editor, running today: an eight-agent studio — salaries, reporting lines, dependency gates — drawn bottom-up, trunk to canopy.</a:t>
            </a:r>
            <a:endParaRPr lang="en-US" sz="1250" dirty="0"/>
          </a:p>
        </p:txBody>
      </p:sp>
      <p:sp>
        <p:nvSpPr>
          <p:cNvPr id="4" name="Shape 2"/>
          <p:cNvSpPr/>
          <p:nvPr/>
        </p:nvSpPr>
        <p:spPr>
          <a:xfrm>
            <a:off x="1207008" y="1161288"/>
            <a:ext cx="6729984" cy="3803904"/>
          </a:xfrm>
          <a:prstGeom prst="rect">
            <a:avLst/>
          </a:prstGeom>
          <a:solidFill>
            <a:srgbClr val="26361F"/>
          </a:solidFill>
          <a:ln w="12700">
            <a:solidFill>
              <a:srgbClr val="3E5C3A"/>
            </a:solidFill>
            <a:prstDash val="solid"/>
          </a:ln>
          <a:effectLst>
            <a:outerShdw sx="100000" sy="100000" kx="0" ky="0" algn="bl" rotWithShape="0" blurRad="88900" dist="25400" dir="2700000">
              <a:srgbClr val="000000">
                <a:alpha val="14000"/>
              </a:srgbClr>
            </a:outerShdw>
          </a:effectLst>
        </p:spPr>
      </p:sp>
      <p:pic>
        <p:nvPicPr>
          <p:cNvPr id="5" name="Image 0" descr="/home/claude/work/editor-sage.png">    </p:cNvPr>
          <p:cNvPicPr>
            <a:picLocks noChangeAspect="1"/>
          </p:cNvPicPr>
          <p:nvPr/>
        </p:nvPicPr>
        <p:blipFill>
          <a:blip r:embed="rId1"/>
          <a:stretch>
            <a:fillRect/>
          </a:stretch>
        </p:blipFill>
        <p:spPr>
          <a:xfrm>
            <a:off x="1234440" y="1179576"/>
            <a:ext cx="6675120" cy="375452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17240F"/>
                </a:solidFill>
                <a:latin typeface="Cambria" pitchFamily="34" charset="0"/>
                <a:ea typeface="Cambria" pitchFamily="34" charset="-122"/>
                <a:cs typeface="Cambria" pitchFamily="34" charset="-120"/>
              </a:rPr>
              <a:t>Why an org chart, of all things?</a:t>
            </a:r>
            <a:endParaRPr lang="en-US" sz="3200" dirty="0"/>
          </a:p>
        </p:txBody>
      </p:sp>
      <p:sp>
        <p:nvSpPr>
          <p:cNvPr id="3" name="Text 1"/>
          <p:cNvSpPr/>
          <p:nvPr/>
        </p:nvSpPr>
        <p:spPr>
          <a:xfrm>
            <a:off x="457200" y="896112"/>
            <a:ext cx="8229600" cy="365760"/>
          </a:xfrm>
          <a:prstGeom prst="rect">
            <a:avLst/>
          </a:prstGeom>
          <a:noFill/>
          <a:ln/>
        </p:spPr>
        <p:txBody>
          <a:bodyPr wrap="square" lIns="0" tIns="0" rIns="0" bIns="0" rtlCol="0" anchor="ctr"/>
          <a:lstStyle/>
          <a:p>
            <a:pPr indent="0" marL="0">
              <a:buNone/>
            </a:pPr>
            <a:r>
              <a:rPr lang="en-US" sz="1400" i="1" dirty="0">
                <a:solidFill>
                  <a:srgbClr val="5C665A"/>
                </a:solidFill>
                <a:latin typeface="Calibri" pitchFamily="34" charset="0"/>
                <a:ea typeface="Calibri" pitchFamily="34" charset="-122"/>
                <a:cs typeface="Calibri" pitchFamily="34" charset="-120"/>
              </a:rPr>
              <a:t>Swarms sound more futuristic. They also fail in exactly the ways org charts were invented to prevent.</a:t>
            </a:r>
            <a:endParaRPr lang="en-US" sz="1400" dirty="0"/>
          </a:p>
        </p:txBody>
      </p:sp>
      <p:sp>
        <p:nvSpPr>
          <p:cNvPr id="4" name="Shape 2"/>
          <p:cNvSpPr/>
          <p:nvPr/>
        </p:nvSpPr>
        <p:spPr>
          <a:xfrm>
            <a:off x="457200" y="1463040"/>
            <a:ext cx="4023360" cy="3063240"/>
          </a:xfrm>
          <a:prstGeom prst="roundRect">
            <a:avLst>
              <a:gd name="adj" fmla="val 2985"/>
            </a:avLst>
          </a:prstGeom>
          <a:solidFill>
            <a:srgbClr val="F4FBF0"/>
          </a:solidFill>
          <a:ln/>
          <a:effectLst>
            <a:outerShdw sx="100000" sy="100000" kx="0" ky="0" algn="bl" rotWithShape="0" blurRad="88900" dist="25400" dir="2700000">
              <a:srgbClr val="000000">
                <a:alpha val="14000"/>
              </a:srgbClr>
            </a:outerShdw>
          </a:effectLst>
        </p:spPr>
      </p:sp>
      <p:sp>
        <p:nvSpPr>
          <p:cNvPr id="5" name="Text 3"/>
          <p:cNvSpPr/>
          <p:nvPr/>
        </p:nvSpPr>
        <p:spPr>
          <a:xfrm>
            <a:off x="731520" y="1691640"/>
            <a:ext cx="3474720" cy="365760"/>
          </a:xfrm>
          <a:prstGeom prst="rect">
            <a:avLst/>
          </a:prstGeom>
          <a:noFill/>
          <a:ln/>
        </p:spPr>
        <p:txBody>
          <a:bodyPr wrap="square" lIns="0" tIns="0" rIns="0" bIns="0" rtlCol="0" anchor="ctr"/>
          <a:lstStyle/>
          <a:p>
            <a:pPr indent="0" marL="0">
              <a:buNone/>
            </a:pPr>
            <a:r>
              <a:rPr lang="en-US" sz="1900" b="1" dirty="0">
                <a:solidFill>
                  <a:srgbClr val="3E5C3A"/>
                </a:solidFill>
                <a:latin typeface="Cambria" pitchFamily="34" charset="0"/>
                <a:ea typeface="Cambria" pitchFamily="34" charset="-122"/>
                <a:cs typeface="Cambria" pitchFamily="34" charset="-120"/>
              </a:rPr>
              <a:t>150 years of debugging</a:t>
            </a:r>
            <a:endParaRPr lang="en-US" sz="1900" dirty="0"/>
          </a:p>
        </p:txBody>
      </p:sp>
      <p:sp>
        <p:nvSpPr>
          <p:cNvPr id="6" name="Text 4"/>
          <p:cNvSpPr/>
          <p:nvPr/>
        </p:nvSpPr>
        <p:spPr>
          <a:xfrm>
            <a:off x="731520" y="2148840"/>
            <a:ext cx="3474720" cy="2194560"/>
          </a:xfrm>
          <a:prstGeom prst="rect">
            <a:avLst/>
          </a:prstGeom>
          <a:noFill/>
          <a:ln/>
        </p:spPr>
        <p:txBody>
          <a:bodyPr wrap="square" lIns="0" tIns="0" rIns="0" bIns="0" rtlCol="0" anchor="t"/>
          <a:lstStyle/>
          <a:p>
            <a:pPr indent="0" marL="0">
              <a:spcAft>
                <a:spcPts val="1000"/>
              </a:spcAft>
              <a:buNone/>
            </a:pPr>
            <a:r>
              <a:rPr lang="en-US" sz="1250" dirty="0">
                <a:solidFill>
                  <a:srgbClr val="17240F"/>
                </a:solidFill>
                <a:latin typeface="Calibri" pitchFamily="34" charset="0"/>
                <a:ea typeface="Calibri" pitchFamily="34" charset="-122"/>
                <a:cs typeface="Calibri" pitchFamily="34" charset="-120"/>
              </a:rPr>
              <a:t>The most battle-tested coordination technology humans have ever built: clear ownership, one manager per node, escalation paths, review before acceptance.</a:t>
            </a:r>
            <a:endParaRPr lang="en-US" sz="1250" dirty="0"/>
          </a:p>
          <a:p>
            <a:pPr indent="0" marL="0">
              <a:buNone/>
            </a:pPr>
            <a:r>
              <a:rPr lang="en-US" sz="1250" dirty="0">
                <a:solidFill>
                  <a:srgbClr val="17240F"/>
                </a:solidFill>
                <a:latin typeface="Calibri" pitchFamily="34" charset="0"/>
                <a:ea typeface="Calibri" pitchFamily="34" charset="-122"/>
                <a:cs typeface="Calibri" pitchFamily="34" charset="-120"/>
              </a:rPr>
              <a:t>Unsupervised agent swarms fail like unmanaged people: duplicated work, nobody accountable, spend nobody approved, sub-goals drifting off mission.</a:t>
            </a:r>
            <a:endParaRPr lang="en-US" sz="1250" dirty="0"/>
          </a:p>
        </p:txBody>
      </p:sp>
      <p:sp>
        <p:nvSpPr>
          <p:cNvPr id="7" name="Shape 5"/>
          <p:cNvSpPr/>
          <p:nvPr/>
        </p:nvSpPr>
        <p:spPr>
          <a:xfrm>
            <a:off x="4663440" y="1463040"/>
            <a:ext cx="4023360" cy="3063240"/>
          </a:xfrm>
          <a:prstGeom prst="roundRect">
            <a:avLst>
              <a:gd name="adj" fmla="val 2985"/>
            </a:avLst>
          </a:prstGeom>
          <a:solidFill>
            <a:srgbClr val="F4FBF0"/>
          </a:solidFill>
          <a:ln/>
          <a:effectLst>
            <a:outerShdw sx="100000" sy="100000" kx="0" ky="0" algn="bl" rotWithShape="0" blurRad="88900" dist="25400" dir="2700000">
              <a:srgbClr val="000000">
                <a:alpha val="14000"/>
              </a:srgbClr>
            </a:outerShdw>
          </a:effectLst>
        </p:spPr>
      </p:sp>
      <p:sp>
        <p:nvSpPr>
          <p:cNvPr id="8" name="Text 6"/>
          <p:cNvSpPr/>
          <p:nvPr/>
        </p:nvSpPr>
        <p:spPr>
          <a:xfrm>
            <a:off x="4937760" y="1691640"/>
            <a:ext cx="3474720" cy="365760"/>
          </a:xfrm>
          <a:prstGeom prst="rect">
            <a:avLst/>
          </a:prstGeom>
          <a:noFill/>
          <a:ln/>
        </p:spPr>
        <p:txBody>
          <a:bodyPr wrap="square" lIns="0" tIns="0" rIns="0" bIns="0" rtlCol="0" anchor="ctr"/>
          <a:lstStyle/>
          <a:p>
            <a:pPr indent="0" marL="0">
              <a:buNone/>
            </a:pPr>
            <a:r>
              <a:rPr lang="en-US" sz="1900" b="1" dirty="0">
                <a:solidFill>
                  <a:srgbClr val="3E5C3A"/>
                </a:solidFill>
                <a:latin typeface="Cambria" pitchFamily="34" charset="0"/>
                <a:ea typeface="Cambria" pitchFamily="34" charset="-122"/>
                <a:cs typeface="Cambria" pitchFamily="34" charset="-120"/>
              </a:rPr>
              <a:t>Zero learning curve</a:t>
            </a:r>
            <a:endParaRPr lang="en-US" sz="1900" dirty="0"/>
          </a:p>
        </p:txBody>
      </p:sp>
      <p:sp>
        <p:nvSpPr>
          <p:cNvPr id="9" name="Text 7"/>
          <p:cNvSpPr/>
          <p:nvPr/>
        </p:nvSpPr>
        <p:spPr>
          <a:xfrm>
            <a:off x="4937760" y="2148840"/>
            <a:ext cx="3474720" cy="2194560"/>
          </a:xfrm>
          <a:prstGeom prst="rect">
            <a:avLst/>
          </a:prstGeom>
          <a:noFill/>
          <a:ln/>
        </p:spPr>
        <p:txBody>
          <a:bodyPr wrap="square" lIns="0" tIns="0" rIns="0" bIns="0" rtlCol="0" anchor="t"/>
          <a:lstStyle/>
          <a:p>
            <a:pPr indent="0" marL="0">
              <a:spcAft>
                <a:spcPts val="1000"/>
              </a:spcAft>
              <a:buNone/>
            </a:pPr>
            <a:r>
              <a:rPr lang="en-US" sz="1250" dirty="0">
                <a:solidFill>
                  <a:srgbClr val="17240F"/>
                </a:solidFill>
                <a:latin typeface="Calibri" pitchFamily="34" charset="0"/>
                <a:ea typeface="Calibri" pitchFamily="34" charset="-122"/>
                <a:cs typeface="Calibri" pitchFamily="34" charset="-120"/>
              </a:rPr>
              <a:t>No workflow language. No graph theory. If you have ever worked a job, you already understand reporting lines, deliverables, and budgets.</a:t>
            </a:r>
            <a:endParaRPr lang="en-US" sz="1250" dirty="0"/>
          </a:p>
          <a:p>
            <a:pPr indent="0" marL="0">
              <a:spcAft>
                <a:spcPts val="600"/>
              </a:spcAft>
              <a:buNone/>
            </a:pPr>
            <a:r>
              <a:rPr lang="en-US" sz="1250" dirty="0">
                <a:solidFill>
                  <a:srgbClr val="17240F"/>
                </a:solidFill>
                <a:latin typeface="Calibri" pitchFamily="34" charset="0"/>
                <a:ea typeface="Calibri" pitchFamily="34" charset="-122"/>
                <a:cs typeface="Calibri" pitchFamily="34" charset="-120"/>
              </a:rPr>
              <a:t>The interface to this power is the one piece of corporate technology every worker on Earth was forced to learn.</a:t>
            </a:r>
            <a:endParaRPr lang="en-US" sz="1250" dirty="0"/>
          </a:p>
          <a:p>
            <a:pPr indent="0" marL="0">
              <a:buNone/>
            </a:pPr>
            <a:r>
              <a:rPr lang="en-US" sz="1250" b="1" dirty="0">
                <a:solidFill>
                  <a:srgbClr val="3E5C3A"/>
                </a:solidFill>
                <a:latin typeface="Calibri" pitchFamily="34" charset="0"/>
                <a:ea typeface="Calibri" pitchFamily="34" charset="-122"/>
                <a:cs typeface="Calibri" pitchFamily="34" charset="-120"/>
              </a:rPr>
              <a:t>We’re handing it back — pointed the other way.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17240F"/>
                </a:solidFill>
                <a:latin typeface="Cambria" pitchFamily="34" charset="0"/>
                <a:ea typeface="Cambria" pitchFamily="34" charset="-122"/>
                <a:cs typeface="Cambria" pitchFamily="34" charset="-120"/>
              </a:rPr>
              <a:t>Delegation without abdication</a:t>
            </a:r>
            <a:endParaRPr lang="en-US" sz="3200" dirty="0"/>
          </a:p>
        </p:txBody>
      </p:sp>
      <p:sp>
        <p:nvSpPr>
          <p:cNvPr id="3" name="Text 1"/>
          <p:cNvSpPr/>
          <p:nvPr/>
        </p:nvSpPr>
        <p:spPr>
          <a:xfrm>
            <a:off x="457200" y="896112"/>
            <a:ext cx="8229600" cy="365760"/>
          </a:xfrm>
          <a:prstGeom prst="rect">
            <a:avLst/>
          </a:prstGeom>
          <a:noFill/>
          <a:ln/>
        </p:spPr>
        <p:txBody>
          <a:bodyPr wrap="square" lIns="0" tIns="0" rIns="0" bIns="0" rtlCol="0" anchor="ctr"/>
          <a:lstStyle/>
          <a:p>
            <a:pPr indent="0" marL="0">
              <a:buNone/>
            </a:pPr>
            <a:r>
              <a:rPr lang="en-US" sz="1400" i="1" dirty="0">
                <a:solidFill>
                  <a:srgbClr val="5C665A"/>
                </a:solidFill>
                <a:latin typeface="Calibri" pitchFamily="34" charset="0"/>
                <a:ea typeface="Calibri" pitchFamily="34" charset="-122"/>
                <a:cs typeface="Calibri" pitchFamily="34" charset="-120"/>
              </a:rPr>
              <a:t>Hard rules the framework enforces — not suggestions politely made to an LLM.</a:t>
            </a:r>
            <a:endParaRPr lang="en-US" sz="1400" dirty="0"/>
          </a:p>
        </p:txBody>
      </p:sp>
      <p:sp>
        <p:nvSpPr>
          <p:cNvPr id="4" name="Shape 2"/>
          <p:cNvSpPr/>
          <p:nvPr/>
        </p:nvSpPr>
        <p:spPr>
          <a:xfrm>
            <a:off x="502920" y="1517904"/>
            <a:ext cx="566928" cy="566928"/>
          </a:xfrm>
          <a:prstGeom prst="ellipse">
            <a:avLst/>
          </a:prstGeom>
          <a:solidFill>
            <a:srgbClr val="3E5C3A"/>
          </a:solidFill>
          <a:ln/>
        </p:spPr>
      </p:sp>
      <p:pic>
        <p:nvPicPr>
          <p:cNvPr id="5" name="Image 0" descr="preencoded.png">    </p:cNvPr>
          <p:cNvPicPr>
            <a:picLocks noChangeAspect="1"/>
          </p:cNvPicPr>
          <p:nvPr/>
        </p:nvPicPr>
        <p:blipFill>
          <a:blip r:embed="rId1"/>
          <a:stretch>
            <a:fillRect/>
          </a:stretch>
        </p:blipFill>
        <p:spPr>
          <a:xfrm>
            <a:off x="649224" y="1664208"/>
            <a:ext cx="274320" cy="274320"/>
          </a:xfrm>
          <a:prstGeom prst="rect">
            <a:avLst/>
          </a:prstGeom>
        </p:spPr>
      </p:pic>
      <p:sp>
        <p:nvSpPr>
          <p:cNvPr id="6" name="Text 3"/>
          <p:cNvSpPr/>
          <p:nvPr/>
        </p:nvSpPr>
        <p:spPr>
          <a:xfrm>
            <a:off x="1280160" y="1408176"/>
            <a:ext cx="7315200" cy="1005840"/>
          </a:xfrm>
          <a:prstGeom prst="rect">
            <a:avLst/>
          </a:prstGeom>
          <a:noFill/>
          <a:ln/>
        </p:spPr>
        <p:txBody>
          <a:bodyPr wrap="square" lIns="0" tIns="0" rIns="0" bIns="0" rtlCol="0" anchor="t"/>
          <a:lstStyle/>
          <a:p>
            <a:pPr indent="0" marL="0">
              <a:buNone/>
            </a:pPr>
            <a:r>
              <a:rPr lang="en-US" sz="1600" b="1" dirty="0">
                <a:solidFill>
                  <a:srgbClr val="17240F"/>
                </a:solidFill>
                <a:latin typeface="Calibri" pitchFamily="34" charset="0"/>
                <a:ea typeface="Calibri" pitchFamily="34" charset="-122"/>
                <a:cs typeface="Calibri" pitchFamily="34" charset="-120"/>
              </a:rPr>
              <a:t>Nothing is done by vibes</a:t>
            </a:r>
            <a:endParaRPr lang="en-US" sz="1600" dirty="0"/>
          </a:p>
          <a:p>
            <a:pPr indent="0" marL="0">
              <a:buNone/>
            </a:pPr>
            <a:r>
              <a:rPr lang="en-US" sz="1150" dirty="0">
                <a:solidFill>
                  <a:srgbClr val="5C665A"/>
                </a:solidFill>
                <a:latin typeface="Calibri" pitchFamily="34" charset="0"/>
                <a:ea typeface="Calibri" pitchFamily="34" charset="-122"/>
                <a:cs typeface="Calibri" pitchFamily="34" charset="-120"/>
              </a:rPr>
              <a:t>Every responsibility ends in something checkable: an artifact — a document, a patch, a dataset — or an attestation that a real-world action happened, with evidence. Accepted against a contract, or redone.</a:t>
            </a:r>
            <a:endParaRPr lang="en-US" sz="1600" dirty="0"/>
          </a:p>
        </p:txBody>
      </p:sp>
      <p:sp>
        <p:nvSpPr>
          <p:cNvPr id="7" name="Shape 4"/>
          <p:cNvSpPr/>
          <p:nvPr/>
        </p:nvSpPr>
        <p:spPr>
          <a:xfrm>
            <a:off x="502920" y="2542032"/>
            <a:ext cx="566928" cy="566928"/>
          </a:xfrm>
          <a:prstGeom prst="ellipse">
            <a:avLst/>
          </a:prstGeom>
          <a:solidFill>
            <a:srgbClr val="3E5C3A"/>
          </a:solidFill>
          <a:ln/>
        </p:spPr>
      </p:sp>
      <p:pic>
        <p:nvPicPr>
          <p:cNvPr id="8" name="Image 1" descr="preencoded.png">    </p:cNvPr>
          <p:cNvPicPr>
            <a:picLocks noChangeAspect="1"/>
          </p:cNvPicPr>
          <p:nvPr/>
        </p:nvPicPr>
        <p:blipFill>
          <a:blip r:embed="rId2"/>
          <a:stretch>
            <a:fillRect/>
          </a:stretch>
        </p:blipFill>
        <p:spPr>
          <a:xfrm>
            <a:off x="649224" y="2688336"/>
            <a:ext cx="274320" cy="274320"/>
          </a:xfrm>
          <a:prstGeom prst="rect">
            <a:avLst/>
          </a:prstGeom>
        </p:spPr>
      </p:pic>
      <p:sp>
        <p:nvSpPr>
          <p:cNvPr id="9" name="Text 5"/>
          <p:cNvSpPr/>
          <p:nvPr/>
        </p:nvSpPr>
        <p:spPr>
          <a:xfrm>
            <a:off x="1280160" y="2432304"/>
            <a:ext cx="7315200" cy="1005840"/>
          </a:xfrm>
          <a:prstGeom prst="rect">
            <a:avLst/>
          </a:prstGeom>
          <a:noFill/>
          <a:ln/>
        </p:spPr>
        <p:txBody>
          <a:bodyPr wrap="square" lIns="0" tIns="0" rIns="0" bIns="0" rtlCol="0" anchor="t"/>
          <a:lstStyle/>
          <a:p>
            <a:pPr indent="0" marL="0">
              <a:buNone/>
            </a:pPr>
            <a:r>
              <a:rPr lang="en-US" sz="1600" b="1" dirty="0">
                <a:solidFill>
                  <a:srgbClr val="17240F"/>
                </a:solidFill>
                <a:latin typeface="Calibri" pitchFamily="34" charset="0"/>
                <a:ea typeface="Calibri" pitchFamily="34" charset="-122"/>
                <a:cs typeface="Calibri" pitchFamily="34" charset="-120"/>
              </a:rPr>
              <a:t>Every agent earns a salary</a:t>
            </a:r>
            <a:endParaRPr lang="en-US" sz="1600" dirty="0"/>
          </a:p>
          <a:p>
            <a:pPr indent="0" marL="0">
              <a:buNone/>
            </a:pPr>
            <a:r>
              <a:rPr lang="en-US" sz="1150" dirty="0">
                <a:solidFill>
                  <a:srgbClr val="5C665A"/>
                </a:solidFill>
                <a:latin typeface="Calibri" pitchFamily="34" charset="0"/>
                <a:ea typeface="Calibri" pitchFamily="34" charset="-122"/>
                <a:cs typeface="Calibri" pitchFamily="34" charset="-120"/>
              </a:rPr>
              <a:t>A token budget, metered by the platform between every step. The meter is checked before each call — the agent can’t opt out. Overruns, stalls, and drift glow on your chart in real time, not on next month’s bill.</a:t>
            </a:r>
            <a:endParaRPr lang="en-US" sz="1600" dirty="0"/>
          </a:p>
        </p:txBody>
      </p:sp>
      <p:sp>
        <p:nvSpPr>
          <p:cNvPr id="10" name="Shape 6"/>
          <p:cNvSpPr/>
          <p:nvPr/>
        </p:nvSpPr>
        <p:spPr>
          <a:xfrm>
            <a:off x="502920" y="3566160"/>
            <a:ext cx="566928" cy="566928"/>
          </a:xfrm>
          <a:prstGeom prst="ellipse">
            <a:avLst/>
          </a:prstGeom>
          <a:solidFill>
            <a:srgbClr val="3E5C3A"/>
          </a:solidFill>
          <a:ln/>
        </p:spPr>
      </p:sp>
      <p:pic>
        <p:nvPicPr>
          <p:cNvPr id="11" name="Image 2" descr="preencoded.png">    </p:cNvPr>
          <p:cNvPicPr>
            <a:picLocks noChangeAspect="1"/>
          </p:cNvPicPr>
          <p:nvPr/>
        </p:nvPicPr>
        <p:blipFill>
          <a:blip r:embed="rId3"/>
          <a:stretch>
            <a:fillRect/>
          </a:stretch>
        </p:blipFill>
        <p:spPr>
          <a:xfrm>
            <a:off x="649224" y="3712464"/>
            <a:ext cx="274320" cy="274320"/>
          </a:xfrm>
          <a:prstGeom prst="rect">
            <a:avLst/>
          </a:prstGeom>
        </p:spPr>
      </p:pic>
      <p:sp>
        <p:nvSpPr>
          <p:cNvPr id="12" name="Text 7"/>
          <p:cNvSpPr/>
          <p:nvPr/>
        </p:nvSpPr>
        <p:spPr>
          <a:xfrm>
            <a:off x="1280160" y="3456432"/>
            <a:ext cx="7315200" cy="1005840"/>
          </a:xfrm>
          <a:prstGeom prst="rect">
            <a:avLst/>
          </a:prstGeom>
          <a:noFill/>
          <a:ln/>
        </p:spPr>
        <p:txBody>
          <a:bodyPr wrap="square" lIns="0" tIns="0" rIns="0" bIns="0" rtlCol="0" anchor="t"/>
          <a:lstStyle/>
          <a:p>
            <a:pPr indent="0" marL="0">
              <a:buNone/>
            </a:pPr>
            <a:r>
              <a:rPr lang="en-US" sz="1600" b="1" dirty="0">
                <a:solidFill>
                  <a:srgbClr val="17240F"/>
                </a:solidFill>
                <a:latin typeface="Calibri" pitchFamily="34" charset="0"/>
                <a:ea typeface="Calibri" pitchFamily="34" charset="-122"/>
                <a:cs typeface="Calibri" pitchFamily="34" charset="-120"/>
              </a:rPr>
              <a:t>Consequences require consent</a:t>
            </a:r>
            <a:endParaRPr lang="en-US" sz="1600" dirty="0"/>
          </a:p>
          <a:p>
            <a:pPr indent="0" marL="0">
              <a:buNone/>
            </a:pPr>
            <a:r>
              <a:rPr lang="en-US" sz="1150" dirty="0">
                <a:solidFill>
                  <a:srgbClr val="5C665A"/>
                </a:solidFill>
                <a:latin typeface="Calibri" pitchFamily="34" charset="0"/>
                <a:ea typeface="Calibri" pitchFamily="34" charset="-122"/>
                <a:cs typeface="Calibri" pitchFamily="34" charset="-120"/>
              </a:rPr>
              <a:t>Before an agent contacts a real customer, spends real money, or publishes to the world — it stops and waits for a human. Consent before the act, evidence after it.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17240F"/>
                </a:solidFill>
                <a:latin typeface="Cambria" pitchFamily="34" charset="0"/>
                <a:ea typeface="Cambria" pitchFamily="34" charset="-122"/>
                <a:cs typeface="Cambria" pitchFamily="34" charset="-120"/>
              </a:rPr>
              <a:t>An economy’s worth of shapes</a:t>
            </a:r>
            <a:endParaRPr lang="en-US" sz="3200" dirty="0"/>
          </a:p>
        </p:txBody>
      </p:sp>
      <p:sp>
        <p:nvSpPr>
          <p:cNvPr id="3" name="Text 1"/>
          <p:cNvSpPr/>
          <p:nvPr/>
        </p:nvSpPr>
        <p:spPr>
          <a:xfrm>
            <a:off x="457200" y="896112"/>
            <a:ext cx="8229600" cy="365760"/>
          </a:xfrm>
          <a:prstGeom prst="rect">
            <a:avLst/>
          </a:prstGeom>
          <a:noFill/>
          <a:ln/>
        </p:spPr>
        <p:txBody>
          <a:bodyPr wrap="square" lIns="0" tIns="0" rIns="0" bIns="0" rtlCol="0" anchor="ctr"/>
          <a:lstStyle/>
          <a:p>
            <a:pPr indent="0" marL="0">
              <a:buNone/>
            </a:pPr>
            <a:r>
              <a:rPr lang="en-US" sz="1400" i="1" dirty="0">
                <a:solidFill>
                  <a:srgbClr val="5C665A"/>
                </a:solidFill>
                <a:latin typeface="Calibri" pitchFamily="34" charset="0"/>
                <a:ea typeface="Calibri" pitchFamily="34" charset="-122"/>
                <a:cs typeface="Calibri" pitchFamily="34" charset="-120"/>
              </a:rPr>
              <a:t>The runtime is still being built. The bar it must clear is already written, in public, as a catalog.</a:t>
            </a:r>
            <a:endParaRPr lang="en-US" sz="1400" dirty="0"/>
          </a:p>
        </p:txBody>
      </p:sp>
      <p:sp>
        <p:nvSpPr>
          <p:cNvPr id="4" name="Text 2"/>
          <p:cNvSpPr/>
          <p:nvPr/>
        </p:nvSpPr>
        <p:spPr>
          <a:xfrm>
            <a:off x="457200" y="1298448"/>
            <a:ext cx="2011680" cy="658368"/>
          </a:xfrm>
          <a:prstGeom prst="rect">
            <a:avLst/>
          </a:prstGeom>
          <a:noFill/>
          <a:ln/>
        </p:spPr>
        <p:txBody>
          <a:bodyPr wrap="square" lIns="0" tIns="0" rIns="0" bIns="0" rtlCol="0" anchor="ctr"/>
          <a:lstStyle/>
          <a:p>
            <a:pPr algn="ctr" indent="0" marL="0">
              <a:buNone/>
            </a:pPr>
            <a:r>
              <a:rPr lang="en-US" sz="4600" b="1" dirty="0">
                <a:solidFill>
                  <a:srgbClr val="3E5C3A"/>
                </a:solidFill>
                <a:latin typeface="Cambria" pitchFamily="34" charset="0"/>
                <a:ea typeface="Cambria" pitchFamily="34" charset="-122"/>
                <a:cs typeface="Cambria" pitchFamily="34" charset="-120"/>
              </a:rPr>
              <a:t>26</a:t>
            </a:r>
            <a:endParaRPr lang="en-US" sz="4600" dirty="0"/>
          </a:p>
        </p:txBody>
      </p:sp>
      <p:sp>
        <p:nvSpPr>
          <p:cNvPr id="5" name="Text 3"/>
          <p:cNvSpPr/>
          <p:nvPr/>
        </p:nvSpPr>
        <p:spPr>
          <a:xfrm>
            <a:off x="457200" y="1956816"/>
            <a:ext cx="2011680" cy="320040"/>
          </a:xfrm>
          <a:prstGeom prst="rect">
            <a:avLst/>
          </a:prstGeom>
          <a:noFill/>
          <a:ln/>
        </p:spPr>
        <p:txBody>
          <a:bodyPr wrap="square" lIns="0" tIns="0" rIns="0" bIns="0" rtlCol="0" anchor="ctr"/>
          <a:lstStyle/>
          <a:p>
            <a:pPr algn="ctr" indent="0" marL="0">
              <a:buNone/>
            </a:pPr>
            <a:r>
              <a:rPr lang="en-US" sz="1250" dirty="0">
                <a:solidFill>
                  <a:srgbClr val="5C665A"/>
                </a:solidFill>
                <a:latin typeface="Calibri" pitchFamily="34" charset="0"/>
                <a:ea typeface="Calibri" pitchFamily="34" charset="-122"/>
                <a:cs typeface="Calibri" pitchFamily="34" charset="-120"/>
              </a:rPr>
              <a:t>organization types</a:t>
            </a:r>
            <a:endParaRPr lang="en-US" sz="1250" dirty="0"/>
          </a:p>
        </p:txBody>
      </p:sp>
      <p:sp>
        <p:nvSpPr>
          <p:cNvPr id="6" name="Text 4"/>
          <p:cNvSpPr/>
          <p:nvPr/>
        </p:nvSpPr>
        <p:spPr>
          <a:xfrm>
            <a:off x="2583180" y="1298448"/>
            <a:ext cx="2011680" cy="658368"/>
          </a:xfrm>
          <a:prstGeom prst="rect">
            <a:avLst/>
          </a:prstGeom>
          <a:noFill/>
          <a:ln/>
        </p:spPr>
        <p:txBody>
          <a:bodyPr wrap="square" lIns="0" tIns="0" rIns="0" bIns="0" rtlCol="0" anchor="ctr"/>
          <a:lstStyle/>
          <a:p>
            <a:pPr algn="ctr" indent="0" marL="0">
              <a:buNone/>
            </a:pPr>
            <a:r>
              <a:rPr lang="en-US" sz="4600" b="1" dirty="0">
                <a:solidFill>
                  <a:srgbClr val="3E5C3A"/>
                </a:solidFill>
                <a:latin typeface="Cambria" pitchFamily="34" charset="0"/>
                <a:ea typeface="Cambria" pitchFamily="34" charset="-122"/>
                <a:cs typeface="Cambria" pitchFamily="34" charset="-120"/>
              </a:rPr>
              <a:t>87</a:t>
            </a:r>
            <a:endParaRPr lang="en-US" sz="4600" dirty="0"/>
          </a:p>
        </p:txBody>
      </p:sp>
      <p:sp>
        <p:nvSpPr>
          <p:cNvPr id="7" name="Text 5"/>
          <p:cNvSpPr/>
          <p:nvPr/>
        </p:nvSpPr>
        <p:spPr>
          <a:xfrm>
            <a:off x="2583180" y="1956816"/>
            <a:ext cx="2011680" cy="320040"/>
          </a:xfrm>
          <a:prstGeom prst="rect">
            <a:avLst/>
          </a:prstGeom>
          <a:noFill/>
          <a:ln/>
        </p:spPr>
        <p:txBody>
          <a:bodyPr wrap="square" lIns="0" tIns="0" rIns="0" bIns="0" rtlCol="0" anchor="ctr"/>
          <a:lstStyle/>
          <a:p>
            <a:pPr algn="ctr" indent="0" marL="0">
              <a:buNone/>
            </a:pPr>
            <a:r>
              <a:rPr lang="en-US" sz="1250" dirty="0">
                <a:solidFill>
                  <a:srgbClr val="5C665A"/>
                </a:solidFill>
                <a:latin typeface="Calibri" pitchFamily="34" charset="0"/>
                <a:ea typeface="Calibri" pitchFamily="34" charset="-122"/>
                <a:cs typeface="Calibri" pitchFamily="34" charset="-120"/>
              </a:rPr>
              <a:t>roles in the catalog</a:t>
            </a:r>
            <a:endParaRPr lang="en-US" sz="1250" dirty="0"/>
          </a:p>
        </p:txBody>
      </p:sp>
      <p:sp>
        <p:nvSpPr>
          <p:cNvPr id="8" name="Text 6"/>
          <p:cNvSpPr/>
          <p:nvPr/>
        </p:nvSpPr>
        <p:spPr>
          <a:xfrm>
            <a:off x="4709160" y="1298448"/>
            <a:ext cx="2011680" cy="658368"/>
          </a:xfrm>
          <a:prstGeom prst="rect">
            <a:avLst/>
          </a:prstGeom>
          <a:noFill/>
          <a:ln/>
        </p:spPr>
        <p:txBody>
          <a:bodyPr wrap="square" lIns="0" tIns="0" rIns="0" bIns="0" rtlCol="0" anchor="ctr"/>
          <a:lstStyle/>
          <a:p>
            <a:pPr algn="ctr" indent="0" marL="0">
              <a:buNone/>
            </a:pPr>
            <a:r>
              <a:rPr lang="en-US" sz="4600" b="1" dirty="0">
                <a:solidFill>
                  <a:srgbClr val="3E5C3A"/>
                </a:solidFill>
                <a:latin typeface="Cambria" pitchFamily="34" charset="0"/>
                <a:ea typeface="Cambria" pitchFamily="34" charset="-122"/>
                <a:cs typeface="Cambria" pitchFamily="34" charset="-120"/>
              </a:rPr>
              <a:t>16</a:t>
            </a:r>
            <a:endParaRPr lang="en-US" sz="4600" dirty="0"/>
          </a:p>
        </p:txBody>
      </p:sp>
      <p:sp>
        <p:nvSpPr>
          <p:cNvPr id="9" name="Text 7"/>
          <p:cNvSpPr/>
          <p:nvPr/>
        </p:nvSpPr>
        <p:spPr>
          <a:xfrm>
            <a:off x="4709160" y="1956816"/>
            <a:ext cx="2011680" cy="320040"/>
          </a:xfrm>
          <a:prstGeom prst="rect">
            <a:avLst/>
          </a:prstGeom>
          <a:noFill/>
          <a:ln/>
        </p:spPr>
        <p:txBody>
          <a:bodyPr wrap="square" lIns="0" tIns="0" rIns="0" bIns="0" rtlCol="0" anchor="ctr"/>
          <a:lstStyle/>
          <a:p>
            <a:pPr algn="ctr" indent="0" marL="0">
              <a:buNone/>
            </a:pPr>
            <a:r>
              <a:rPr lang="en-US" sz="1250" dirty="0">
                <a:solidFill>
                  <a:srgbClr val="5C665A"/>
                </a:solidFill>
                <a:latin typeface="Calibri" pitchFamily="34" charset="0"/>
                <a:ea typeface="Calibri" pitchFamily="34" charset="-122"/>
                <a:cs typeface="Calibri" pitchFamily="34" charset="-120"/>
              </a:rPr>
              <a:t>pre-wired formations</a:t>
            </a:r>
            <a:endParaRPr lang="en-US" sz="1250" dirty="0"/>
          </a:p>
        </p:txBody>
      </p:sp>
      <p:sp>
        <p:nvSpPr>
          <p:cNvPr id="10" name="Text 8"/>
          <p:cNvSpPr/>
          <p:nvPr/>
        </p:nvSpPr>
        <p:spPr>
          <a:xfrm>
            <a:off x="6835140" y="1298448"/>
            <a:ext cx="2011680" cy="658368"/>
          </a:xfrm>
          <a:prstGeom prst="rect">
            <a:avLst/>
          </a:prstGeom>
          <a:noFill/>
          <a:ln/>
        </p:spPr>
        <p:txBody>
          <a:bodyPr wrap="square" lIns="0" tIns="0" rIns="0" bIns="0" rtlCol="0" anchor="ctr"/>
          <a:lstStyle/>
          <a:p>
            <a:pPr algn="ctr" indent="0" marL="0">
              <a:buNone/>
            </a:pPr>
            <a:r>
              <a:rPr lang="en-US" sz="4600" b="1" dirty="0">
                <a:solidFill>
                  <a:srgbClr val="3E5C3A"/>
                </a:solidFill>
                <a:latin typeface="Cambria" pitchFamily="34" charset="0"/>
                <a:ea typeface="Cambria" pitchFamily="34" charset="-122"/>
                <a:cs typeface="Cambria" pitchFamily="34" charset="-120"/>
              </a:rPr>
              <a:t>31</a:t>
            </a:r>
            <a:endParaRPr lang="en-US" sz="4600" dirty="0"/>
          </a:p>
        </p:txBody>
      </p:sp>
      <p:sp>
        <p:nvSpPr>
          <p:cNvPr id="11" name="Text 9"/>
          <p:cNvSpPr/>
          <p:nvPr/>
        </p:nvSpPr>
        <p:spPr>
          <a:xfrm>
            <a:off x="6835140" y="1956816"/>
            <a:ext cx="2011680" cy="320040"/>
          </a:xfrm>
          <a:prstGeom prst="rect">
            <a:avLst/>
          </a:prstGeom>
          <a:noFill/>
          <a:ln/>
        </p:spPr>
        <p:txBody>
          <a:bodyPr wrap="square" lIns="0" tIns="0" rIns="0" bIns="0" rtlCol="0" anchor="ctr"/>
          <a:lstStyle/>
          <a:p>
            <a:pPr algn="ctr" indent="0" marL="0">
              <a:buNone/>
            </a:pPr>
            <a:r>
              <a:rPr lang="en-US" sz="1250" dirty="0">
                <a:solidFill>
                  <a:srgbClr val="5C665A"/>
                </a:solidFill>
                <a:latin typeface="Calibri" pitchFamily="34" charset="0"/>
                <a:ea typeface="Calibri" pitchFamily="34" charset="-122"/>
                <a:cs typeface="Calibri" pitchFamily="34" charset="-120"/>
              </a:rPr>
              <a:t>acceptance use cases</a:t>
            </a:r>
            <a:endParaRPr lang="en-US" sz="1250" dirty="0"/>
          </a:p>
        </p:txBody>
      </p:sp>
      <p:sp>
        <p:nvSpPr>
          <p:cNvPr id="12" name="Shape 10"/>
          <p:cNvSpPr/>
          <p:nvPr/>
        </p:nvSpPr>
        <p:spPr>
          <a:xfrm>
            <a:off x="640080" y="2487168"/>
            <a:ext cx="1874520" cy="420624"/>
          </a:xfrm>
          <a:prstGeom prst="roundRect">
            <a:avLst>
              <a:gd name="adj" fmla="val 50000"/>
            </a:avLst>
          </a:prstGeom>
          <a:solidFill>
            <a:srgbClr val="F4FBF0"/>
          </a:solidFill>
          <a:ln w="12700">
            <a:solidFill>
              <a:srgbClr val="B7D89A"/>
            </a:solidFill>
            <a:prstDash val="solid"/>
          </a:ln>
        </p:spPr>
      </p:sp>
      <p:sp>
        <p:nvSpPr>
          <p:cNvPr id="13" name="Text 11"/>
          <p:cNvSpPr/>
          <p:nvPr/>
        </p:nvSpPr>
        <p:spPr>
          <a:xfrm>
            <a:off x="640080" y="2487168"/>
            <a:ext cx="1874520" cy="420624"/>
          </a:xfrm>
          <a:prstGeom prst="rect">
            <a:avLst/>
          </a:prstGeom>
          <a:noFill/>
          <a:ln/>
        </p:spPr>
        <p:txBody>
          <a:bodyPr wrap="square" lIns="0" tIns="0" rIns="0" bIns="0" rtlCol="0" anchor="ctr"/>
          <a:lstStyle/>
          <a:p>
            <a:pPr algn="ctr" indent="0" marL="0">
              <a:buNone/>
            </a:pPr>
            <a:r>
              <a:rPr lang="en-US" sz="1250" b="1" dirty="0">
                <a:solidFill>
                  <a:srgbClr val="3E5C3A"/>
                </a:solidFill>
                <a:latin typeface="Calibri" pitchFamily="34" charset="0"/>
                <a:ea typeface="Calibri" pitchFamily="34" charset="-122"/>
                <a:cs typeface="Calibri" pitchFamily="34" charset="-120"/>
              </a:rPr>
              <a:t>software pod</a:t>
            </a:r>
            <a:endParaRPr lang="en-US" sz="1250" dirty="0"/>
          </a:p>
        </p:txBody>
      </p:sp>
      <p:sp>
        <p:nvSpPr>
          <p:cNvPr id="14" name="Shape 12"/>
          <p:cNvSpPr/>
          <p:nvPr/>
        </p:nvSpPr>
        <p:spPr>
          <a:xfrm>
            <a:off x="2697480" y="2487168"/>
            <a:ext cx="1874520" cy="420624"/>
          </a:xfrm>
          <a:prstGeom prst="roundRect">
            <a:avLst>
              <a:gd name="adj" fmla="val 50000"/>
            </a:avLst>
          </a:prstGeom>
          <a:solidFill>
            <a:srgbClr val="F4FBF0"/>
          </a:solidFill>
          <a:ln w="12700">
            <a:solidFill>
              <a:srgbClr val="B7D89A"/>
            </a:solidFill>
            <a:prstDash val="solid"/>
          </a:ln>
        </p:spPr>
      </p:sp>
      <p:sp>
        <p:nvSpPr>
          <p:cNvPr id="15" name="Text 13"/>
          <p:cNvSpPr/>
          <p:nvPr/>
        </p:nvSpPr>
        <p:spPr>
          <a:xfrm>
            <a:off x="2697480" y="2487168"/>
            <a:ext cx="1874520" cy="420624"/>
          </a:xfrm>
          <a:prstGeom prst="rect">
            <a:avLst/>
          </a:prstGeom>
          <a:noFill/>
          <a:ln/>
        </p:spPr>
        <p:txBody>
          <a:bodyPr wrap="square" lIns="0" tIns="0" rIns="0" bIns="0" rtlCol="0" anchor="ctr"/>
          <a:lstStyle/>
          <a:p>
            <a:pPr algn="ctr" indent="0" marL="0">
              <a:buNone/>
            </a:pPr>
            <a:r>
              <a:rPr lang="en-US" sz="1250" b="1" dirty="0">
                <a:solidFill>
                  <a:srgbClr val="3E5C3A"/>
                </a:solidFill>
                <a:latin typeface="Calibri" pitchFamily="34" charset="0"/>
                <a:ea typeface="Calibri" pitchFamily="34" charset="-122"/>
                <a:cs typeface="Calibri" pitchFamily="34" charset="-120"/>
              </a:rPr>
              <a:t>newsroom</a:t>
            </a:r>
            <a:endParaRPr lang="en-US" sz="1250" dirty="0"/>
          </a:p>
        </p:txBody>
      </p:sp>
      <p:sp>
        <p:nvSpPr>
          <p:cNvPr id="16" name="Shape 14"/>
          <p:cNvSpPr/>
          <p:nvPr/>
        </p:nvSpPr>
        <p:spPr>
          <a:xfrm>
            <a:off x="4754880" y="2487168"/>
            <a:ext cx="1874520" cy="420624"/>
          </a:xfrm>
          <a:prstGeom prst="roundRect">
            <a:avLst>
              <a:gd name="adj" fmla="val 50000"/>
            </a:avLst>
          </a:prstGeom>
          <a:solidFill>
            <a:srgbClr val="F4FBF0"/>
          </a:solidFill>
          <a:ln w="12700">
            <a:solidFill>
              <a:srgbClr val="B7D89A"/>
            </a:solidFill>
            <a:prstDash val="solid"/>
          </a:ln>
        </p:spPr>
      </p:sp>
      <p:sp>
        <p:nvSpPr>
          <p:cNvPr id="17" name="Text 15"/>
          <p:cNvSpPr/>
          <p:nvPr/>
        </p:nvSpPr>
        <p:spPr>
          <a:xfrm>
            <a:off x="4754880" y="2487168"/>
            <a:ext cx="1874520" cy="420624"/>
          </a:xfrm>
          <a:prstGeom prst="rect">
            <a:avLst/>
          </a:prstGeom>
          <a:noFill/>
          <a:ln/>
        </p:spPr>
        <p:txBody>
          <a:bodyPr wrap="square" lIns="0" tIns="0" rIns="0" bIns="0" rtlCol="0" anchor="ctr"/>
          <a:lstStyle/>
          <a:p>
            <a:pPr algn="ctr" indent="0" marL="0">
              <a:buNone/>
            </a:pPr>
            <a:r>
              <a:rPr lang="en-US" sz="1250" b="1" dirty="0">
                <a:solidFill>
                  <a:srgbClr val="3E5C3A"/>
                </a:solidFill>
                <a:latin typeface="Calibri" pitchFamily="34" charset="0"/>
                <a:ea typeface="Calibri" pitchFamily="34" charset="-122"/>
                <a:cs typeface="Calibri" pitchFamily="34" charset="-120"/>
              </a:rPr>
              <a:t>research lab</a:t>
            </a:r>
            <a:endParaRPr lang="en-US" sz="1250" dirty="0"/>
          </a:p>
        </p:txBody>
      </p:sp>
      <p:sp>
        <p:nvSpPr>
          <p:cNvPr id="18" name="Shape 16"/>
          <p:cNvSpPr/>
          <p:nvPr/>
        </p:nvSpPr>
        <p:spPr>
          <a:xfrm>
            <a:off x="6812280" y="2487168"/>
            <a:ext cx="1874520" cy="420624"/>
          </a:xfrm>
          <a:prstGeom prst="roundRect">
            <a:avLst>
              <a:gd name="adj" fmla="val 50000"/>
            </a:avLst>
          </a:prstGeom>
          <a:solidFill>
            <a:srgbClr val="F4FBF0"/>
          </a:solidFill>
          <a:ln w="12700">
            <a:solidFill>
              <a:srgbClr val="B7D89A"/>
            </a:solidFill>
            <a:prstDash val="solid"/>
          </a:ln>
        </p:spPr>
      </p:sp>
      <p:sp>
        <p:nvSpPr>
          <p:cNvPr id="19" name="Text 17"/>
          <p:cNvSpPr/>
          <p:nvPr/>
        </p:nvSpPr>
        <p:spPr>
          <a:xfrm>
            <a:off x="6812280" y="2487168"/>
            <a:ext cx="1874520" cy="420624"/>
          </a:xfrm>
          <a:prstGeom prst="rect">
            <a:avLst/>
          </a:prstGeom>
          <a:noFill/>
          <a:ln/>
        </p:spPr>
        <p:txBody>
          <a:bodyPr wrap="square" lIns="0" tIns="0" rIns="0" bIns="0" rtlCol="0" anchor="ctr"/>
          <a:lstStyle/>
          <a:p>
            <a:pPr algn="ctr" indent="0" marL="0">
              <a:buNone/>
            </a:pPr>
            <a:r>
              <a:rPr lang="en-US" sz="1250" b="1" dirty="0">
                <a:solidFill>
                  <a:srgbClr val="3E5C3A"/>
                </a:solidFill>
                <a:latin typeface="Calibri" pitchFamily="34" charset="0"/>
                <a:ea typeface="Calibri" pitchFamily="34" charset="-122"/>
                <a:cs typeface="Calibri" pitchFamily="34" charset="-120"/>
              </a:rPr>
              <a:t>creative agency</a:t>
            </a:r>
            <a:endParaRPr lang="en-US" sz="1250" dirty="0"/>
          </a:p>
        </p:txBody>
      </p:sp>
      <p:sp>
        <p:nvSpPr>
          <p:cNvPr id="20" name="Shape 18"/>
          <p:cNvSpPr/>
          <p:nvPr/>
        </p:nvSpPr>
        <p:spPr>
          <a:xfrm>
            <a:off x="640080" y="3035808"/>
            <a:ext cx="1874520" cy="420624"/>
          </a:xfrm>
          <a:prstGeom prst="roundRect">
            <a:avLst>
              <a:gd name="adj" fmla="val 50000"/>
            </a:avLst>
          </a:prstGeom>
          <a:solidFill>
            <a:srgbClr val="F4FBF0"/>
          </a:solidFill>
          <a:ln w="12700">
            <a:solidFill>
              <a:srgbClr val="B7D89A"/>
            </a:solidFill>
            <a:prstDash val="solid"/>
          </a:ln>
        </p:spPr>
      </p:sp>
      <p:sp>
        <p:nvSpPr>
          <p:cNvPr id="21" name="Text 19"/>
          <p:cNvSpPr/>
          <p:nvPr/>
        </p:nvSpPr>
        <p:spPr>
          <a:xfrm>
            <a:off x="640080" y="3035808"/>
            <a:ext cx="1874520" cy="420624"/>
          </a:xfrm>
          <a:prstGeom prst="rect">
            <a:avLst/>
          </a:prstGeom>
          <a:noFill/>
          <a:ln/>
        </p:spPr>
        <p:txBody>
          <a:bodyPr wrap="square" lIns="0" tIns="0" rIns="0" bIns="0" rtlCol="0" anchor="ctr"/>
          <a:lstStyle/>
          <a:p>
            <a:pPr algn="ctr" indent="0" marL="0">
              <a:buNone/>
            </a:pPr>
            <a:r>
              <a:rPr lang="en-US" sz="1250" b="1" dirty="0">
                <a:solidFill>
                  <a:srgbClr val="3E5C3A"/>
                </a:solidFill>
                <a:latin typeface="Calibri" pitchFamily="34" charset="0"/>
                <a:ea typeface="Calibri" pitchFamily="34" charset="-122"/>
                <a:cs typeface="Calibri" pitchFamily="34" charset="-120"/>
              </a:rPr>
              <a:t>franchise shift</a:t>
            </a:r>
            <a:endParaRPr lang="en-US" sz="1250" dirty="0"/>
          </a:p>
        </p:txBody>
      </p:sp>
      <p:sp>
        <p:nvSpPr>
          <p:cNvPr id="22" name="Shape 20"/>
          <p:cNvSpPr/>
          <p:nvPr/>
        </p:nvSpPr>
        <p:spPr>
          <a:xfrm>
            <a:off x="2697480" y="3035808"/>
            <a:ext cx="1874520" cy="420624"/>
          </a:xfrm>
          <a:prstGeom prst="roundRect">
            <a:avLst>
              <a:gd name="adj" fmla="val 50000"/>
            </a:avLst>
          </a:prstGeom>
          <a:solidFill>
            <a:srgbClr val="F4FBF0"/>
          </a:solidFill>
          <a:ln w="12700">
            <a:solidFill>
              <a:srgbClr val="B7D89A"/>
            </a:solidFill>
            <a:prstDash val="solid"/>
          </a:ln>
        </p:spPr>
      </p:sp>
      <p:sp>
        <p:nvSpPr>
          <p:cNvPr id="23" name="Text 21"/>
          <p:cNvSpPr/>
          <p:nvPr/>
        </p:nvSpPr>
        <p:spPr>
          <a:xfrm>
            <a:off x="2697480" y="3035808"/>
            <a:ext cx="1874520" cy="420624"/>
          </a:xfrm>
          <a:prstGeom prst="rect">
            <a:avLst/>
          </a:prstGeom>
          <a:noFill/>
          <a:ln/>
        </p:spPr>
        <p:txBody>
          <a:bodyPr wrap="square" lIns="0" tIns="0" rIns="0" bIns="0" rtlCol="0" anchor="ctr"/>
          <a:lstStyle/>
          <a:p>
            <a:pPr algn="ctr" indent="0" marL="0">
              <a:buNone/>
            </a:pPr>
            <a:r>
              <a:rPr lang="en-US" sz="1250" b="1" dirty="0">
                <a:solidFill>
                  <a:srgbClr val="3E5C3A"/>
                </a:solidFill>
                <a:latin typeface="Calibri" pitchFamily="34" charset="0"/>
                <a:ea typeface="Calibri" pitchFamily="34" charset="-122"/>
                <a:cs typeface="Calibri" pitchFamily="34" charset="-120"/>
              </a:rPr>
              <a:t>support desk</a:t>
            </a:r>
            <a:endParaRPr lang="en-US" sz="1250" dirty="0"/>
          </a:p>
        </p:txBody>
      </p:sp>
      <p:sp>
        <p:nvSpPr>
          <p:cNvPr id="24" name="Shape 22"/>
          <p:cNvSpPr/>
          <p:nvPr/>
        </p:nvSpPr>
        <p:spPr>
          <a:xfrm>
            <a:off x="4754880" y="3035808"/>
            <a:ext cx="1874520" cy="420624"/>
          </a:xfrm>
          <a:prstGeom prst="roundRect">
            <a:avLst>
              <a:gd name="adj" fmla="val 50000"/>
            </a:avLst>
          </a:prstGeom>
          <a:solidFill>
            <a:srgbClr val="F4FBF0"/>
          </a:solidFill>
          <a:ln w="12700">
            <a:solidFill>
              <a:srgbClr val="B7D89A"/>
            </a:solidFill>
            <a:prstDash val="solid"/>
          </a:ln>
        </p:spPr>
      </p:sp>
      <p:sp>
        <p:nvSpPr>
          <p:cNvPr id="25" name="Text 23"/>
          <p:cNvSpPr/>
          <p:nvPr/>
        </p:nvSpPr>
        <p:spPr>
          <a:xfrm>
            <a:off x="4754880" y="3035808"/>
            <a:ext cx="1874520" cy="420624"/>
          </a:xfrm>
          <a:prstGeom prst="rect">
            <a:avLst/>
          </a:prstGeom>
          <a:noFill/>
          <a:ln/>
        </p:spPr>
        <p:txBody>
          <a:bodyPr wrap="square" lIns="0" tIns="0" rIns="0" bIns="0" rtlCol="0" anchor="ctr"/>
          <a:lstStyle/>
          <a:p>
            <a:pPr algn="ctr" indent="0" marL="0">
              <a:buNone/>
            </a:pPr>
            <a:r>
              <a:rPr lang="en-US" sz="1250" b="1" dirty="0">
                <a:solidFill>
                  <a:srgbClr val="3E5C3A"/>
                </a:solidFill>
                <a:latin typeface="Calibri" pitchFamily="34" charset="0"/>
                <a:ea typeface="Calibri" pitchFamily="34" charset="-122"/>
                <a:cs typeface="Calibri" pitchFamily="34" charset="-120"/>
              </a:rPr>
              <a:t>event crew</a:t>
            </a:r>
            <a:endParaRPr lang="en-US" sz="1250" dirty="0"/>
          </a:p>
        </p:txBody>
      </p:sp>
      <p:sp>
        <p:nvSpPr>
          <p:cNvPr id="26" name="Shape 24"/>
          <p:cNvSpPr/>
          <p:nvPr/>
        </p:nvSpPr>
        <p:spPr>
          <a:xfrm>
            <a:off x="6812280" y="3035808"/>
            <a:ext cx="1874520" cy="420624"/>
          </a:xfrm>
          <a:prstGeom prst="roundRect">
            <a:avLst>
              <a:gd name="adj" fmla="val 50000"/>
            </a:avLst>
          </a:prstGeom>
          <a:solidFill>
            <a:srgbClr val="F4FBF0"/>
          </a:solidFill>
          <a:ln w="12700">
            <a:solidFill>
              <a:srgbClr val="B7D89A"/>
            </a:solidFill>
            <a:prstDash val="solid"/>
          </a:ln>
        </p:spPr>
      </p:sp>
      <p:sp>
        <p:nvSpPr>
          <p:cNvPr id="27" name="Text 25"/>
          <p:cNvSpPr/>
          <p:nvPr/>
        </p:nvSpPr>
        <p:spPr>
          <a:xfrm>
            <a:off x="6812280" y="3035808"/>
            <a:ext cx="1874520" cy="420624"/>
          </a:xfrm>
          <a:prstGeom prst="rect">
            <a:avLst/>
          </a:prstGeom>
          <a:noFill/>
          <a:ln/>
        </p:spPr>
        <p:txBody>
          <a:bodyPr wrap="square" lIns="0" tIns="0" rIns="0" bIns="0" rtlCol="0" anchor="ctr"/>
          <a:lstStyle/>
          <a:p>
            <a:pPr algn="ctr" indent="0" marL="0">
              <a:buNone/>
            </a:pPr>
            <a:r>
              <a:rPr lang="en-US" sz="1250" b="1" dirty="0">
                <a:solidFill>
                  <a:srgbClr val="3E5C3A"/>
                </a:solidFill>
                <a:latin typeface="Calibri" pitchFamily="34" charset="0"/>
                <a:ea typeface="Calibri" pitchFamily="34" charset="-122"/>
                <a:cs typeface="Calibri" pitchFamily="34" charset="-120"/>
              </a:rPr>
              <a:t>fundraising office</a:t>
            </a:r>
            <a:endParaRPr lang="en-US" sz="1250" dirty="0"/>
          </a:p>
        </p:txBody>
      </p:sp>
      <p:sp>
        <p:nvSpPr>
          <p:cNvPr id="28" name="Text 26"/>
          <p:cNvSpPr/>
          <p:nvPr/>
        </p:nvSpPr>
        <p:spPr>
          <a:xfrm>
            <a:off x="457200" y="3794760"/>
            <a:ext cx="8229600" cy="457200"/>
          </a:xfrm>
          <a:prstGeom prst="rect">
            <a:avLst/>
          </a:prstGeom>
          <a:noFill/>
          <a:ln/>
        </p:spPr>
        <p:txBody>
          <a:bodyPr wrap="square" lIns="0" tIns="0" rIns="0" bIns="0" rtlCol="0" anchor="ctr"/>
          <a:lstStyle/>
          <a:p>
            <a:pPr algn="ctr" indent="0" marL="0">
              <a:buNone/>
            </a:pPr>
            <a:r>
              <a:rPr lang="en-US" sz="1300" i="1" dirty="0">
                <a:solidFill>
                  <a:srgbClr val="5C665A"/>
                </a:solidFill>
                <a:latin typeface="Calibri" pitchFamily="34" charset="0"/>
                <a:ea typeface="Calibri" pitchFamily="34" charset="-122"/>
                <a:cs typeface="Calibri" pitchFamily="34" charset="-120"/>
              </a:rPr>
              <a:t>If a dream on this list can’t be expressed with the shipped catalog, the catalog is wrong — not the dreamer.</a:t>
            </a:r>
            <a:endParaRPr lang="en-US" sz="1300" dirty="0"/>
          </a:p>
        </p:txBody>
      </p:sp>
      <p:sp>
        <p:nvSpPr>
          <p:cNvPr id="29" name="Text 27"/>
          <p:cNvSpPr/>
          <p:nvPr/>
        </p:nvSpPr>
        <p:spPr>
          <a:xfrm>
            <a:off x="457200" y="4297680"/>
            <a:ext cx="8229600" cy="594360"/>
          </a:xfrm>
          <a:prstGeom prst="rect">
            <a:avLst/>
          </a:prstGeom>
          <a:noFill/>
          <a:ln/>
        </p:spPr>
        <p:txBody>
          <a:bodyPr wrap="square" lIns="0" tIns="0" rIns="0" bIns="0" rtlCol="0" anchor="ctr"/>
          <a:lstStyle/>
          <a:p>
            <a:pPr algn="ctr" indent="0" marL="0">
              <a:buNone/>
            </a:pPr>
            <a:r>
              <a:rPr lang="en-US" sz="1600" b="1" i="1" dirty="0">
                <a:solidFill>
                  <a:srgbClr val="3E5C3A"/>
                </a:solidFill>
                <a:latin typeface="Cambria" pitchFamily="34" charset="0"/>
                <a:ea typeface="Cambria" pitchFamily="34" charset="-122"/>
                <a:cs typeface="Cambria" pitchFamily="34" charset="-120"/>
              </a:rPr>
              <a:t>Different dreams, same machinery. The machinery was never the special part — it was just the expensive part.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17240F"/>
                </a:solidFill>
                <a:latin typeface="Cambria" pitchFamily="34" charset="0"/>
                <a:ea typeface="Cambria" pitchFamily="34" charset="-122"/>
                <a:cs typeface="Cambria" pitchFamily="34" charset="-120"/>
              </a:rPr>
              <a:t>The artist, versus the art business</a:t>
            </a:r>
            <a:endParaRPr lang="en-US" sz="3200" dirty="0"/>
          </a:p>
        </p:txBody>
      </p:sp>
      <p:sp>
        <p:nvSpPr>
          <p:cNvPr id="3" name="Shape 1"/>
          <p:cNvSpPr/>
          <p:nvPr/>
        </p:nvSpPr>
        <p:spPr>
          <a:xfrm>
            <a:off x="457200" y="1097280"/>
            <a:ext cx="4023360" cy="2834640"/>
          </a:xfrm>
          <a:prstGeom prst="roundRect">
            <a:avLst>
              <a:gd name="adj" fmla="val 3226"/>
            </a:avLst>
          </a:prstGeom>
          <a:solidFill>
            <a:srgbClr val="F4FBF0"/>
          </a:solidFill>
          <a:ln/>
          <a:effectLst>
            <a:outerShdw sx="100000" sy="100000" kx="0" ky="0" algn="bl" rotWithShape="0" blurRad="88900" dist="25400" dir="2700000">
              <a:srgbClr val="000000">
                <a:alpha val="14000"/>
              </a:srgbClr>
            </a:outerShdw>
          </a:effectLst>
        </p:spPr>
      </p:sp>
      <p:sp>
        <p:nvSpPr>
          <p:cNvPr id="4" name="Text 2"/>
          <p:cNvSpPr/>
          <p:nvPr/>
        </p:nvSpPr>
        <p:spPr>
          <a:xfrm>
            <a:off x="731520" y="1280160"/>
            <a:ext cx="3474720" cy="274320"/>
          </a:xfrm>
          <a:prstGeom prst="rect">
            <a:avLst/>
          </a:prstGeom>
          <a:noFill/>
          <a:ln/>
        </p:spPr>
        <p:txBody>
          <a:bodyPr wrap="square" lIns="0" tIns="0" rIns="0" bIns="0" rtlCol="0" anchor="ctr"/>
          <a:lstStyle/>
          <a:p>
            <a:pPr indent="0" marL="0">
              <a:buNone/>
            </a:pPr>
            <a:r>
              <a:rPr lang="en-US" sz="1100" b="1" spc="200" kern="0" dirty="0">
                <a:solidFill>
                  <a:srgbClr val="5C665A"/>
                </a:solidFill>
                <a:latin typeface="Calibri" pitchFamily="34" charset="0"/>
                <a:ea typeface="Calibri" pitchFamily="34" charset="-122"/>
                <a:cs typeface="Calibri" pitchFamily="34" charset="-120"/>
              </a:rPr>
              <a:t>THE CORPORATION, THEN</a:t>
            </a:r>
            <a:endParaRPr lang="en-US" sz="1100" dirty="0"/>
          </a:p>
        </p:txBody>
      </p:sp>
      <p:sp>
        <p:nvSpPr>
          <p:cNvPr id="5" name="Text 3"/>
          <p:cNvSpPr/>
          <p:nvPr/>
        </p:nvSpPr>
        <p:spPr>
          <a:xfrm>
            <a:off x="731520" y="1600200"/>
            <a:ext cx="3474720" cy="548640"/>
          </a:xfrm>
          <a:prstGeom prst="rect">
            <a:avLst/>
          </a:prstGeom>
          <a:noFill/>
          <a:ln/>
        </p:spPr>
        <p:txBody>
          <a:bodyPr wrap="square" lIns="0" tIns="0" rIns="0" bIns="0" rtlCol="0" anchor="ctr"/>
          <a:lstStyle/>
          <a:p>
            <a:pPr indent="0" marL="0">
              <a:buNone/>
            </a:pPr>
            <a:r>
              <a:rPr lang="en-US" sz="1550" b="1" dirty="0">
                <a:solidFill>
                  <a:srgbClr val="17240F"/>
                </a:solidFill>
                <a:latin typeface="Cambria" pitchFamily="34" charset="0"/>
                <a:ea typeface="Cambria" pitchFamily="34" charset="-122"/>
                <a:cs typeface="Cambria" pitchFamily="34" charset="-120"/>
              </a:rPr>
              <a:t>Two hundred people between the art and the world.</a:t>
            </a:r>
            <a:endParaRPr lang="en-US" sz="1550" dirty="0"/>
          </a:p>
        </p:txBody>
      </p:sp>
      <p:sp>
        <p:nvSpPr>
          <p:cNvPr id="6" name="Text 4"/>
          <p:cNvSpPr/>
          <p:nvPr/>
        </p:nvSpPr>
        <p:spPr>
          <a:xfrm>
            <a:off x="731520" y="2240280"/>
            <a:ext cx="3474720" cy="1463040"/>
          </a:xfrm>
          <a:prstGeom prst="rect">
            <a:avLst/>
          </a:prstGeom>
          <a:noFill/>
          <a:ln/>
        </p:spPr>
        <p:txBody>
          <a:bodyPr wrap="square" lIns="0" tIns="0" rIns="0" bIns="0" rtlCol="0" anchor="t"/>
          <a:lstStyle/>
          <a:p>
            <a:pPr indent="0" marL="0">
              <a:buNone/>
            </a:pPr>
            <a:r>
              <a:rPr lang="en-US" sz="1250" dirty="0">
                <a:solidFill>
                  <a:srgbClr val="5C665A"/>
                </a:solidFill>
                <a:latin typeface="Calibri" pitchFamily="34" charset="0"/>
                <a:ea typeface="Calibri" pitchFamily="34" charset="-122"/>
                <a:cs typeface="Calibri" pitchFamily="34" charset="-120"/>
              </a:rPr>
              <a:t>Release pipeline. Marketing cadence. Licensing review. Fan support. Bookkeeping. The machinery money could buy — and the one thing it couldn’t: a voice. That, they had to hire.</a:t>
            </a:r>
            <a:endParaRPr lang="en-US" sz="1250" dirty="0"/>
          </a:p>
        </p:txBody>
      </p:sp>
      <p:sp>
        <p:nvSpPr>
          <p:cNvPr id="7" name="Shape 5"/>
          <p:cNvSpPr/>
          <p:nvPr/>
        </p:nvSpPr>
        <p:spPr>
          <a:xfrm>
            <a:off x="4663440" y="1097280"/>
            <a:ext cx="4023360" cy="2834640"/>
          </a:xfrm>
          <a:prstGeom prst="roundRect">
            <a:avLst>
              <a:gd name="adj" fmla="val 3226"/>
            </a:avLst>
          </a:prstGeom>
          <a:solidFill>
            <a:srgbClr val="17240F"/>
          </a:solidFill>
          <a:ln/>
          <a:effectLst>
            <a:outerShdw sx="100000" sy="100000" kx="0" ky="0" algn="bl" rotWithShape="0" blurRad="88900" dist="25400" dir="2700000">
              <a:srgbClr val="000000">
                <a:alpha val="14000"/>
              </a:srgbClr>
            </a:outerShdw>
          </a:effectLst>
        </p:spPr>
      </p:sp>
      <p:sp>
        <p:nvSpPr>
          <p:cNvPr id="8" name="Text 6"/>
          <p:cNvSpPr/>
          <p:nvPr/>
        </p:nvSpPr>
        <p:spPr>
          <a:xfrm>
            <a:off x="4937760" y="1280160"/>
            <a:ext cx="3474720" cy="274320"/>
          </a:xfrm>
          <a:prstGeom prst="rect">
            <a:avLst/>
          </a:prstGeom>
          <a:noFill/>
          <a:ln/>
        </p:spPr>
        <p:txBody>
          <a:bodyPr wrap="square" lIns="0" tIns="0" rIns="0" bIns="0" rtlCol="0" anchor="ctr"/>
          <a:lstStyle/>
          <a:p>
            <a:pPr indent="0" marL="0">
              <a:buNone/>
            </a:pPr>
            <a:r>
              <a:rPr lang="en-US" sz="1100" b="1" spc="200" kern="0" dirty="0">
                <a:solidFill>
                  <a:srgbClr val="7FA06B"/>
                </a:solidFill>
                <a:latin typeface="Calibri" pitchFamily="34" charset="0"/>
                <a:ea typeface="Calibri" pitchFamily="34" charset="-122"/>
                <a:cs typeface="Calibri" pitchFamily="34" charset="-120"/>
              </a:rPr>
              <a:t>THE ARTIST, NOW</a:t>
            </a:r>
            <a:endParaRPr lang="en-US" sz="1100" dirty="0"/>
          </a:p>
        </p:txBody>
      </p:sp>
      <p:sp>
        <p:nvSpPr>
          <p:cNvPr id="9" name="Text 7"/>
          <p:cNvSpPr/>
          <p:nvPr/>
        </p:nvSpPr>
        <p:spPr>
          <a:xfrm>
            <a:off x="4937760" y="1600200"/>
            <a:ext cx="3474720" cy="548640"/>
          </a:xfrm>
          <a:prstGeom prst="rect">
            <a:avLst/>
          </a:prstGeom>
          <a:noFill/>
          <a:ln/>
        </p:spPr>
        <p:txBody>
          <a:bodyPr wrap="square" lIns="0" tIns="0" rIns="0" bIns="0" rtlCol="0" anchor="ctr"/>
          <a:lstStyle/>
          <a:p>
            <a:pPr indent="0" marL="0">
              <a:buNone/>
            </a:pPr>
            <a:r>
              <a:rPr lang="en-US" sz="1550" b="1" dirty="0">
                <a:solidFill>
                  <a:srgbClr val="F4FBF0"/>
                </a:solidFill>
                <a:latin typeface="Cambria" pitchFamily="34" charset="0"/>
                <a:ea typeface="Cambria" pitchFamily="34" charset="-122"/>
                <a:cs typeface="Cambria" pitchFamily="34" charset="-120"/>
              </a:rPr>
              <a:t>She keeps the voice. She gets the machinery.</a:t>
            </a:r>
            <a:endParaRPr lang="en-US" sz="1550" dirty="0"/>
          </a:p>
        </p:txBody>
      </p:sp>
      <p:sp>
        <p:nvSpPr>
          <p:cNvPr id="10" name="Text 8"/>
          <p:cNvSpPr/>
          <p:nvPr/>
        </p:nvSpPr>
        <p:spPr>
          <a:xfrm>
            <a:off x="4937760" y="2240280"/>
            <a:ext cx="3474720" cy="15544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B7D89A"/>
                </a:solidFill>
                <a:latin typeface="Calibri" pitchFamily="34" charset="0"/>
                <a:ea typeface="Calibri" pitchFamily="34" charset="-122"/>
                <a:cs typeface="Calibri" pitchFamily="34" charset="-120"/>
              </a:rPr>
              <a:t>An editor holding the quality bar</a:t>
            </a:r>
            <a:endParaRPr lang="en-US" sz="1250" dirty="0"/>
          </a:p>
          <a:p>
            <a:pPr marL="342900" indent="-342900">
              <a:spcAft>
                <a:spcPts val="600"/>
              </a:spcAft>
              <a:buSzPct val="100000"/>
              <a:buChar char="•"/>
            </a:pPr>
            <a:r>
              <a:rPr lang="en-US" sz="1250" dirty="0">
                <a:solidFill>
                  <a:srgbClr val="B7D89A"/>
                </a:solidFill>
                <a:latin typeface="Calibri" pitchFamily="34" charset="0"/>
                <a:ea typeface="Calibri" pitchFamily="34" charset="-122"/>
                <a:cs typeface="Calibri" pitchFamily="34" charset="-120"/>
              </a:rPr>
              <a:t>A social manager publishing on cadence</a:t>
            </a:r>
            <a:endParaRPr lang="en-US" sz="1250" dirty="0"/>
          </a:p>
          <a:p>
            <a:pPr marL="342900" indent="-342900">
              <a:spcAft>
                <a:spcPts val="600"/>
              </a:spcAft>
              <a:buSzPct val="100000"/>
              <a:buChar char="•"/>
            </a:pPr>
            <a:r>
              <a:rPr lang="en-US" sz="1250" dirty="0">
                <a:solidFill>
                  <a:srgbClr val="B7D89A"/>
                </a:solidFill>
                <a:latin typeface="Calibri" pitchFamily="34" charset="0"/>
                <a:ea typeface="Calibri" pitchFamily="34" charset="-122"/>
                <a:cs typeface="Calibri" pitchFamily="34" charset="-120"/>
              </a:rPr>
              <a:t>A support desk answering fans</a:t>
            </a:r>
            <a:endParaRPr lang="en-US" sz="1250" dirty="0"/>
          </a:p>
          <a:p>
            <a:pPr marL="342900" indent="-342900">
              <a:spcAft>
                <a:spcPts val="600"/>
              </a:spcAft>
              <a:buSzPct val="100000"/>
              <a:buChar char="•"/>
            </a:pPr>
            <a:r>
              <a:rPr lang="en-US" sz="1250" dirty="0">
                <a:solidFill>
                  <a:srgbClr val="B7D89A"/>
                </a:solidFill>
                <a:latin typeface="Calibri" pitchFamily="34" charset="0"/>
                <a:ea typeface="Calibri" pitchFamily="34" charset="-122"/>
                <a:cs typeface="Calibri" pitchFamily="34" charset="-120"/>
              </a:rPr>
              <a:t>A contracts analyst triaging every license request in 24 hours</a:t>
            </a:r>
            <a:endParaRPr lang="en-US" sz="1250" dirty="0"/>
          </a:p>
        </p:txBody>
      </p:sp>
      <p:sp>
        <p:nvSpPr>
          <p:cNvPr id="11" name="Text 9"/>
          <p:cNvSpPr/>
          <p:nvPr/>
        </p:nvSpPr>
        <p:spPr>
          <a:xfrm>
            <a:off x="457200" y="4206240"/>
            <a:ext cx="8229600" cy="548640"/>
          </a:xfrm>
          <a:prstGeom prst="rect">
            <a:avLst/>
          </a:prstGeom>
          <a:noFill/>
          <a:ln/>
        </p:spPr>
        <p:txBody>
          <a:bodyPr wrap="square" lIns="0" tIns="0" rIns="0" bIns="0" rtlCol="0" anchor="ctr"/>
          <a:lstStyle/>
          <a:p>
            <a:pPr algn="ctr" indent="0" marL="0">
              <a:buNone/>
            </a:pPr>
            <a:r>
              <a:rPr lang="en-US" sz="2400" b="1" dirty="0">
                <a:solidFill>
                  <a:srgbClr val="3E5C3A"/>
                </a:solidFill>
                <a:latin typeface="Cambria" pitchFamily="34" charset="0"/>
                <a:ea typeface="Cambria" pitchFamily="34" charset="-122"/>
                <a:cs typeface="Cambria" pitchFamily="34" charset="-120"/>
              </a:rPr>
              <a:t>The moat is shrinking.</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240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F4FBF0"/>
                </a:solidFill>
                <a:latin typeface="Cambria" pitchFamily="34" charset="0"/>
                <a:ea typeface="Cambria" pitchFamily="34" charset="-122"/>
                <a:cs typeface="Cambria" pitchFamily="34" charset="-120"/>
              </a:rPr>
              <a:t>So what, exactly, got automated?</a:t>
            </a:r>
            <a:endParaRPr lang="en-US" sz="3200" dirty="0"/>
          </a:p>
        </p:txBody>
      </p:sp>
      <p:sp>
        <p:nvSpPr>
          <p:cNvPr id="3" name="Text 1"/>
          <p:cNvSpPr/>
          <p:nvPr/>
        </p:nvSpPr>
        <p:spPr>
          <a:xfrm>
            <a:off x="457200" y="896112"/>
            <a:ext cx="8229600" cy="502920"/>
          </a:xfrm>
          <a:prstGeom prst="rect">
            <a:avLst/>
          </a:prstGeom>
          <a:noFill/>
          <a:ln/>
        </p:spPr>
        <p:txBody>
          <a:bodyPr wrap="square" lIns="0" tIns="0" rIns="0" bIns="0" rtlCol="0" anchor="ctr"/>
          <a:lstStyle/>
          <a:p>
            <a:pPr indent="0" marL="0">
              <a:buNone/>
            </a:pPr>
            <a:r>
              <a:rPr lang="en-US" sz="1400" i="1" dirty="0">
                <a:solidFill>
                  <a:srgbClr val="7FA06B"/>
                </a:solidFill>
                <a:latin typeface="Calibri" pitchFamily="34" charset="0"/>
                <a:ea typeface="Calibri" pitchFamily="34" charset="-122"/>
                <a:cs typeface="Calibri" pitchFamily="34" charset="-120"/>
              </a:rPr>
              <a:t>Every responsibility a manager holds — across all 26 archetypes — consolidates into six families. All six now run through the platform.</a:t>
            </a:r>
            <a:endParaRPr lang="en-US" sz="1400" dirty="0"/>
          </a:p>
        </p:txBody>
      </p:sp>
      <p:sp>
        <p:nvSpPr>
          <p:cNvPr id="4" name="Shape 2"/>
          <p:cNvSpPr/>
          <p:nvPr/>
        </p:nvSpPr>
        <p:spPr>
          <a:xfrm>
            <a:off x="548640" y="1572768"/>
            <a:ext cx="2560320" cy="548640"/>
          </a:xfrm>
          <a:prstGeom prst="roundRect">
            <a:avLst>
              <a:gd name="adj" fmla="val 13333"/>
            </a:avLst>
          </a:prstGeom>
          <a:solidFill>
            <a:srgbClr val="26361F"/>
          </a:solidFill>
          <a:ln w="12700">
            <a:solidFill>
              <a:srgbClr val="3E5C3A"/>
            </a:solidFill>
            <a:prstDash val="solid"/>
          </a:ln>
        </p:spPr>
      </p:sp>
      <p:sp>
        <p:nvSpPr>
          <p:cNvPr id="5" name="Text 3"/>
          <p:cNvSpPr/>
          <p:nvPr/>
        </p:nvSpPr>
        <p:spPr>
          <a:xfrm>
            <a:off x="548640" y="1572768"/>
            <a:ext cx="2560320" cy="548640"/>
          </a:xfrm>
          <a:prstGeom prst="rect">
            <a:avLst/>
          </a:prstGeom>
          <a:noFill/>
          <a:ln/>
        </p:spPr>
        <p:txBody>
          <a:bodyPr wrap="square" lIns="0" tIns="0" rIns="0" bIns="0" rtlCol="0" anchor="ctr"/>
          <a:lstStyle/>
          <a:p>
            <a:pPr algn="ctr" indent="0" marL="0">
              <a:buNone/>
            </a:pPr>
            <a:r>
              <a:rPr lang="en-US" sz="1400" b="1" dirty="0">
                <a:solidFill>
                  <a:srgbClr val="B7D89A"/>
                </a:solidFill>
                <a:latin typeface="Calibri" pitchFamily="34" charset="0"/>
                <a:ea typeface="Calibri" pitchFamily="34" charset="-122"/>
                <a:cs typeface="Calibri" pitchFamily="34" charset="-120"/>
              </a:rPr>
              <a:t>Decompose &amp; delegate</a:t>
            </a:r>
            <a:endParaRPr lang="en-US" sz="1400" dirty="0"/>
          </a:p>
        </p:txBody>
      </p:sp>
      <p:sp>
        <p:nvSpPr>
          <p:cNvPr id="6" name="Shape 4"/>
          <p:cNvSpPr/>
          <p:nvPr/>
        </p:nvSpPr>
        <p:spPr>
          <a:xfrm>
            <a:off x="3291840" y="1572768"/>
            <a:ext cx="2560320" cy="548640"/>
          </a:xfrm>
          <a:prstGeom prst="roundRect">
            <a:avLst>
              <a:gd name="adj" fmla="val 13333"/>
            </a:avLst>
          </a:prstGeom>
          <a:solidFill>
            <a:srgbClr val="26361F"/>
          </a:solidFill>
          <a:ln w="12700">
            <a:solidFill>
              <a:srgbClr val="3E5C3A"/>
            </a:solidFill>
            <a:prstDash val="solid"/>
          </a:ln>
        </p:spPr>
      </p:sp>
      <p:sp>
        <p:nvSpPr>
          <p:cNvPr id="7" name="Text 5"/>
          <p:cNvSpPr/>
          <p:nvPr/>
        </p:nvSpPr>
        <p:spPr>
          <a:xfrm>
            <a:off x="3291840" y="1572768"/>
            <a:ext cx="2560320" cy="548640"/>
          </a:xfrm>
          <a:prstGeom prst="rect">
            <a:avLst/>
          </a:prstGeom>
          <a:noFill/>
          <a:ln/>
        </p:spPr>
        <p:txBody>
          <a:bodyPr wrap="square" lIns="0" tIns="0" rIns="0" bIns="0" rtlCol="0" anchor="ctr"/>
          <a:lstStyle/>
          <a:p>
            <a:pPr algn="ctr" indent="0" marL="0">
              <a:buNone/>
            </a:pPr>
            <a:r>
              <a:rPr lang="en-US" sz="1400" b="1" dirty="0">
                <a:solidFill>
                  <a:srgbClr val="B7D89A"/>
                </a:solidFill>
                <a:latin typeface="Calibri" pitchFamily="34" charset="0"/>
                <a:ea typeface="Calibri" pitchFamily="34" charset="-122"/>
                <a:cs typeface="Calibri" pitchFamily="34" charset="-120"/>
              </a:rPr>
              <a:t>Control scope</a:t>
            </a:r>
            <a:endParaRPr lang="en-US" sz="1400" dirty="0"/>
          </a:p>
        </p:txBody>
      </p:sp>
      <p:sp>
        <p:nvSpPr>
          <p:cNvPr id="8" name="Shape 6"/>
          <p:cNvSpPr/>
          <p:nvPr/>
        </p:nvSpPr>
        <p:spPr>
          <a:xfrm>
            <a:off x="6035040" y="1572768"/>
            <a:ext cx="2560320" cy="548640"/>
          </a:xfrm>
          <a:prstGeom prst="roundRect">
            <a:avLst>
              <a:gd name="adj" fmla="val 13333"/>
            </a:avLst>
          </a:prstGeom>
          <a:solidFill>
            <a:srgbClr val="26361F"/>
          </a:solidFill>
          <a:ln w="12700">
            <a:solidFill>
              <a:srgbClr val="3E5C3A"/>
            </a:solidFill>
            <a:prstDash val="solid"/>
          </a:ln>
        </p:spPr>
      </p:sp>
      <p:sp>
        <p:nvSpPr>
          <p:cNvPr id="9" name="Text 7"/>
          <p:cNvSpPr/>
          <p:nvPr/>
        </p:nvSpPr>
        <p:spPr>
          <a:xfrm>
            <a:off x="6035040" y="1572768"/>
            <a:ext cx="2560320" cy="548640"/>
          </a:xfrm>
          <a:prstGeom prst="rect">
            <a:avLst/>
          </a:prstGeom>
          <a:noFill/>
          <a:ln/>
        </p:spPr>
        <p:txBody>
          <a:bodyPr wrap="square" lIns="0" tIns="0" rIns="0" bIns="0" rtlCol="0" anchor="ctr"/>
          <a:lstStyle/>
          <a:p>
            <a:pPr algn="ctr" indent="0" marL="0">
              <a:buNone/>
            </a:pPr>
            <a:r>
              <a:rPr lang="en-US" sz="1400" b="1" dirty="0">
                <a:solidFill>
                  <a:srgbClr val="B7D89A"/>
                </a:solidFill>
                <a:latin typeface="Calibri" pitchFamily="34" charset="0"/>
                <a:ea typeface="Calibri" pitchFamily="34" charset="-122"/>
                <a:cs typeface="Calibri" pitchFamily="34" charset="-120"/>
              </a:rPr>
              <a:t>Monitor progress</a:t>
            </a:r>
            <a:endParaRPr lang="en-US" sz="1400" dirty="0"/>
          </a:p>
        </p:txBody>
      </p:sp>
      <p:sp>
        <p:nvSpPr>
          <p:cNvPr id="10" name="Shape 8"/>
          <p:cNvSpPr/>
          <p:nvPr/>
        </p:nvSpPr>
        <p:spPr>
          <a:xfrm>
            <a:off x="548640" y="2286000"/>
            <a:ext cx="2560320" cy="548640"/>
          </a:xfrm>
          <a:prstGeom prst="roundRect">
            <a:avLst>
              <a:gd name="adj" fmla="val 13333"/>
            </a:avLst>
          </a:prstGeom>
          <a:solidFill>
            <a:srgbClr val="26361F"/>
          </a:solidFill>
          <a:ln w="12700">
            <a:solidFill>
              <a:srgbClr val="3E5C3A"/>
            </a:solidFill>
            <a:prstDash val="solid"/>
          </a:ln>
        </p:spPr>
      </p:sp>
      <p:sp>
        <p:nvSpPr>
          <p:cNvPr id="11" name="Text 9"/>
          <p:cNvSpPr/>
          <p:nvPr/>
        </p:nvSpPr>
        <p:spPr>
          <a:xfrm>
            <a:off x="548640" y="2286000"/>
            <a:ext cx="2560320" cy="548640"/>
          </a:xfrm>
          <a:prstGeom prst="rect">
            <a:avLst/>
          </a:prstGeom>
          <a:noFill/>
          <a:ln/>
        </p:spPr>
        <p:txBody>
          <a:bodyPr wrap="square" lIns="0" tIns="0" rIns="0" bIns="0" rtlCol="0" anchor="ctr"/>
          <a:lstStyle/>
          <a:p>
            <a:pPr algn="ctr" indent="0" marL="0">
              <a:buNone/>
            </a:pPr>
            <a:r>
              <a:rPr lang="en-US" sz="1400" b="1" dirty="0">
                <a:solidFill>
                  <a:srgbClr val="B7D89A"/>
                </a:solidFill>
                <a:latin typeface="Calibri" pitchFamily="34" charset="0"/>
                <a:ea typeface="Calibri" pitchFamily="34" charset="-122"/>
                <a:cs typeface="Calibri" pitchFamily="34" charset="-120"/>
              </a:rPr>
              <a:t>Enforce quality</a:t>
            </a:r>
            <a:endParaRPr lang="en-US" sz="1400" dirty="0"/>
          </a:p>
        </p:txBody>
      </p:sp>
      <p:sp>
        <p:nvSpPr>
          <p:cNvPr id="12" name="Shape 10"/>
          <p:cNvSpPr/>
          <p:nvPr/>
        </p:nvSpPr>
        <p:spPr>
          <a:xfrm>
            <a:off x="3291840" y="2286000"/>
            <a:ext cx="2560320" cy="548640"/>
          </a:xfrm>
          <a:prstGeom prst="roundRect">
            <a:avLst>
              <a:gd name="adj" fmla="val 13333"/>
            </a:avLst>
          </a:prstGeom>
          <a:solidFill>
            <a:srgbClr val="26361F"/>
          </a:solidFill>
          <a:ln w="12700">
            <a:solidFill>
              <a:srgbClr val="3E5C3A"/>
            </a:solidFill>
            <a:prstDash val="solid"/>
          </a:ln>
        </p:spPr>
      </p:sp>
      <p:sp>
        <p:nvSpPr>
          <p:cNvPr id="13" name="Text 11"/>
          <p:cNvSpPr/>
          <p:nvPr/>
        </p:nvSpPr>
        <p:spPr>
          <a:xfrm>
            <a:off x="3291840" y="2286000"/>
            <a:ext cx="2560320" cy="548640"/>
          </a:xfrm>
          <a:prstGeom prst="rect">
            <a:avLst/>
          </a:prstGeom>
          <a:noFill/>
          <a:ln/>
        </p:spPr>
        <p:txBody>
          <a:bodyPr wrap="square" lIns="0" tIns="0" rIns="0" bIns="0" rtlCol="0" anchor="ctr"/>
          <a:lstStyle/>
          <a:p>
            <a:pPr algn="ctr" indent="0" marL="0">
              <a:buNone/>
            </a:pPr>
            <a:r>
              <a:rPr lang="en-US" sz="1400" b="1" dirty="0">
                <a:solidFill>
                  <a:srgbClr val="B7D89A"/>
                </a:solidFill>
                <a:latin typeface="Calibri" pitchFamily="34" charset="0"/>
                <a:ea typeface="Calibri" pitchFamily="34" charset="-122"/>
                <a:cs typeface="Calibri" pitchFamily="34" charset="-120"/>
              </a:rPr>
              <a:t>Unblock work</a:t>
            </a:r>
            <a:endParaRPr lang="en-US" sz="1400" dirty="0"/>
          </a:p>
        </p:txBody>
      </p:sp>
      <p:sp>
        <p:nvSpPr>
          <p:cNvPr id="14" name="Shape 12"/>
          <p:cNvSpPr/>
          <p:nvPr/>
        </p:nvSpPr>
        <p:spPr>
          <a:xfrm>
            <a:off x="6035040" y="2286000"/>
            <a:ext cx="2560320" cy="548640"/>
          </a:xfrm>
          <a:prstGeom prst="roundRect">
            <a:avLst>
              <a:gd name="adj" fmla="val 13333"/>
            </a:avLst>
          </a:prstGeom>
          <a:solidFill>
            <a:srgbClr val="26361F"/>
          </a:solidFill>
          <a:ln w="12700">
            <a:solidFill>
              <a:srgbClr val="3E5C3A"/>
            </a:solidFill>
            <a:prstDash val="solid"/>
          </a:ln>
        </p:spPr>
      </p:sp>
      <p:sp>
        <p:nvSpPr>
          <p:cNvPr id="15" name="Text 13"/>
          <p:cNvSpPr/>
          <p:nvPr/>
        </p:nvSpPr>
        <p:spPr>
          <a:xfrm>
            <a:off x="6035040" y="2286000"/>
            <a:ext cx="2560320" cy="548640"/>
          </a:xfrm>
          <a:prstGeom prst="rect">
            <a:avLst/>
          </a:prstGeom>
          <a:noFill/>
          <a:ln/>
        </p:spPr>
        <p:txBody>
          <a:bodyPr wrap="square" lIns="0" tIns="0" rIns="0" bIns="0" rtlCol="0" anchor="ctr"/>
          <a:lstStyle/>
          <a:p>
            <a:pPr algn="ctr" indent="0" marL="0">
              <a:buNone/>
            </a:pPr>
            <a:r>
              <a:rPr lang="en-US" sz="1400" b="1" dirty="0">
                <a:solidFill>
                  <a:srgbClr val="B7D89A"/>
                </a:solidFill>
                <a:latin typeface="Calibri" pitchFamily="34" charset="0"/>
                <a:ea typeface="Calibri" pitchFamily="34" charset="-122"/>
                <a:cs typeface="Calibri" pitchFamily="34" charset="-120"/>
              </a:rPr>
              <a:t>Manage budgets</a:t>
            </a:r>
            <a:endParaRPr lang="en-US" sz="1400" dirty="0"/>
          </a:p>
        </p:txBody>
      </p:sp>
      <p:sp>
        <p:nvSpPr>
          <p:cNvPr id="16" name="Text 14"/>
          <p:cNvSpPr/>
          <p:nvPr/>
        </p:nvSpPr>
        <p:spPr>
          <a:xfrm>
            <a:off x="457200" y="3246120"/>
            <a:ext cx="8229600" cy="1188720"/>
          </a:xfrm>
          <a:prstGeom prst="rect">
            <a:avLst/>
          </a:prstGeom>
          <a:noFill/>
          <a:ln/>
        </p:spPr>
        <p:txBody>
          <a:bodyPr wrap="square" lIns="0" tIns="0" rIns="0" bIns="0" rtlCol="0" anchor="ctr"/>
          <a:lstStyle/>
          <a:p>
            <a:pPr algn="ctr" indent="0" marL="0">
              <a:buNone/>
            </a:pPr>
            <a:r>
              <a:rPr lang="en-US" sz="3000" b="1" dirty="0">
                <a:solidFill>
                  <a:srgbClr val="F4FBF0"/>
                </a:solidFill>
                <a:latin typeface="Cambria" pitchFamily="34" charset="0"/>
                <a:ea typeface="Cambria" pitchFamily="34" charset="-122"/>
                <a:cs typeface="Cambria" pitchFamily="34" charset="-120"/>
              </a:rPr>
              <a:t>The role that dissolves is not the maker.</a:t>
            </a:r>
            <a:endParaRPr lang="en-US" sz="3000" dirty="0"/>
          </a:p>
          <a:p>
            <a:pPr algn="ctr" indent="0" marL="0">
              <a:buNone/>
            </a:pPr>
            <a:r>
              <a:rPr lang="en-US" sz="3000" b="1" dirty="0">
                <a:solidFill>
                  <a:srgbClr val="D8A03A"/>
                </a:solidFill>
                <a:latin typeface="Cambria" pitchFamily="34" charset="0"/>
                <a:ea typeface="Cambria" pitchFamily="34" charset="-122"/>
                <a:cs typeface="Cambria" pitchFamily="34" charset="-120"/>
              </a:rPr>
              <a:t>It’s the manager.</a:t>
            </a:r>
            <a:endParaRPr lang="en-US" sz="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17240F"/>
                </a:solidFill>
                <a:latin typeface="Cambria" pitchFamily="34" charset="0"/>
                <a:ea typeface="Cambria" pitchFamily="34" charset="-122"/>
                <a:cs typeface="Cambria" pitchFamily="34" charset="-120"/>
              </a:rPr>
              <a:t>What’s left is the part that matters</a:t>
            </a:r>
            <a:endParaRPr lang="en-US" sz="3200" dirty="0"/>
          </a:p>
        </p:txBody>
      </p:sp>
      <p:sp>
        <p:nvSpPr>
          <p:cNvPr id="3" name="Shape 1"/>
          <p:cNvSpPr/>
          <p:nvPr/>
        </p:nvSpPr>
        <p:spPr>
          <a:xfrm>
            <a:off x="457200" y="1143000"/>
            <a:ext cx="2651760" cy="1965960"/>
          </a:xfrm>
          <a:prstGeom prst="roundRect">
            <a:avLst>
              <a:gd name="adj" fmla="val 4651"/>
            </a:avLst>
          </a:prstGeom>
          <a:solidFill>
            <a:srgbClr val="F4FBF0"/>
          </a:solidFill>
          <a:ln/>
          <a:effectLst>
            <a:outerShdw sx="100000" sy="100000" kx="0" ky="0" algn="bl" rotWithShape="0" blurRad="88900" dist="25400" dir="2700000">
              <a:srgbClr val="000000">
                <a:alpha val="14000"/>
              </a:srgbClr>
            </a:outerShdw>
          </a:effectLst>
        </p:spPr>
      </p:sp>
      <p:sp>
        <p:nvSpPr>
          <p:cNvPr id="4" name="Text 2"/>
          <p:cNvSpPr/>
          <p:nvPr/>
        </p:nvSpPr>
        <p:spPr>
          <a:xfrm>
            <a:off x="685800" y="1325880"/>
            <a:ext cx="2194560" cy="365760"/>
          </a:xfrm>
          <a:prstGeom prst="rect">
            <a:avLst/>
          </a:prstGeom>
          <a:noFill/>
          <a:ln/>
        </p:spPr>
        <p:txBody>
          <a:bodyPr wrap="square" lIns="0" tIns="0" rIns="0" bIns="0" rtlCol="0" anchor="ctr"/>
          <a:lstStyle/>
          <a:p>
            <a:pPr indent="0" marL="0">
              <a:buNone/>
            </a:pPr>
            <a:r>
              <a:rPr lang="en-US" sz="1700" b="1" dirty="0">
                <a:solidFill>
                  <a:srgbClr val="3E5C3A"/>
                </a:solidFill>
                <a:latin typeface="Cambria" pitchFamily="34" charset="0"/>
                <a:ea typeface="Cambria" pitchFamily="34" charset="-122"/>
                <a:cs typeface="Cambria" pitchFamily="34" charset="-120"/>
              </a:rPr>
              <a:t>The chart</a:t>
            </a:r>
            <a:endParaRPr lang="en-US" sz="1700" dirty="0"/>
          </a:p>
        </p:txBody>
      </p:sp>
      <p:sp>
        <p:nvSpPr>
          <p:cNvPr id="5" name="Text 3"/>
          <p:cNvSpPr/>
          <p:nvPr/>
        </p:nvSpPr>
        <p:spPr>
          <a:xfrm>
            <a:off x="685800" y="1737360"/>
            <a:ext cx="2194560" cy="1280160"/>
          </a:xfrm>
          <a:prstGeom prst="rect">
            <a:avLst/>
          </a:prstGeom>
          <a:noFill/>
          <a:ln/>
        </p:spPr>
        <p:txBody>
          <a:bodyPr wrap="square" lIns="0" tIns="0" rIns="0" bIns="0" rtlCol="0" anchor="t"/>
          <a:lstStyle/>
          <a:p>
            <a:pPr indent="0" marL="0">
              <a:buNone/>
            </a:pPr>
            <a:r>
              <a:rPr lang="en-US" sz="1150" dirty="0">
                <a:solidFill>
                  <a:srgbClr val="5C665A"/>
                </a:solidFill>
                <a:latin typeface="Calibri" pitchFamily="34" charset="0"/>
                <a:ea typeface="Calibri" pitchFamily="34" charset="-122"/>
                <a:cs typeface="Calibri" pitchFamily="34" charset="-120"/>
              </a:rPr>
              <a:t>Only you change the structure. The system can surface evidence — queues, bottlenecks, repeat escalations — but the org never rewires itself.</a:t>
            </a:r>
            <a:endParaRPr lang="en-US" sz="1150" dirty="0"/>
          </a:p>
        </p:txBody>
      </p:sp>
      <p:sp>
        <p:nvSpPr>
          <p:cNvPr id="6" name="Shape 4"/>
          <p:cNvSpPr/>
          <p:nvPr/>
        </p:nvSpPr>
        <p:spPr>
          <a:xfrm>
            <a:off x="3291840" y="1143000"/>
            <a:ext cx="2651760" cy="1965960"/>
          </a:xfrm>
          <a:prstGeom prst="roundRect">
            <a:avLst>
              <a:gd name="adj" fmla="val 4651"/>
            </a:avLst>
          </a:prstGeom>
          <a:solidFill>
            <a:srgbClr val="F4FBF0"/>
          </a:solidFill>
          <a:ln/>
          <a:effectLst>
            <a:outerShdw sx="100000" sy="100000" kx="0" ky="0" algn="bl" rotWithShape="0" blurRad="88900" dist="25400" dir="2700000">
              <a:srgbClr val="000000">
                <a:alpha val="14000"/>
              </a:srgbClr>
            </a:outerShdw>
          </a:effectLst>
        </p:spPr>
      </p:sp>
      <p:sp>
        <p:nvSpPr>
          <p:cNvPr id="7" name="Text 5"/>
          <p:cNvSpPr/>
          <p:nvPr/>
        </p:nvSpPr>
        <p:spPr>
          <a:xfrm>
            <a:off x="3520440" y="1325880"/>
            <a:ext cx="2194560" cy="365760"/>
          </a:xfrm>
          <a:prstGeom prst="rect">
            <a:avLst/>
          </a:prstGeom>
          <a:noFill/>
          <a:ln/>
        </p:spPr>
        <p:txBody>
          <a:bodyPr wrap="square" lIns="0" tIns="0" rIns="0" bIns="0" rtlCol="0" anchor="ctr"/>
          <a:lstStyle/>
          <a:p>
            <a:pPr indent="0" marL="0">
              <a:buNone/>
            </a:pPr>
            <a:r>
              <a:rPr lang="en-US" sz="1700" b="1" dirty="0">
                <a:solidFill>
                  <a:srgbClr val="3E5C3A"/>
                </a:solidFill>
                <a:latin typeface="Cambria" pitchFamily="34" charset="0"/>
                <a:ea typeface="Cambria" pitchFamily="34" charset="-122"/>
                <a:cs typeface="Cambria" pitchFamily="34" charset="-120"/>
              </a:rPr>
              <a:t>The pen</a:t>
            </a:r>
            <a:endParaRPr lang="en-US" sz="1700" dirty="0"/>
          </a:p>
        </p:txBody>
      </p:sp>
      <p:sp>
        <p:nvSpPr>
          <p:cNvPr id="8" name="Text 6"/>
          <p:cNvSpPr/>
          <p:nvPr/>
        </p:nvSpPr>
        <p:spPr>
          <a:xfrm>
            <a:off x="3520440" y="1737360"/>
            <a:ext cx="2194560" cy="1280160"/>
          </a:xfrm>
          <a:prstGeom prst="rect">
            <a:avLst/>
          </a:prstGeom>
          <a:noFill/>
          <a:ln/>
        </p:spPr>
        <p:txBody>
          <a:bodyPr wrap="square" lIns="0" tIns="0" rIns="0" bIns="0" rtlCol="0" anchor="t"/>
          <a:lstStyle/>
          <a:p>
            <a:pPr indent="0" marL="0">
              <a:buNone/>
            </a:pPr>
            <a:r>
              <a:rPr lang="en-US" sz="1150" dirty="0">
                <a:solidFill>
                  <a:srgbClr val="5C665A"/>
                </a:solidFill>
                <a:latin typeface="Calibri" pitchFamily="34" charset="0"/>
                <a:ea typeface="Calibri" pitchFamily="34" charset="-122"/>
                <a:cs typeface="Calibri" pitchFamily="34" charset="-120"/>
              </a:rPr>
              <a:t>Every action that touches reality — money, customers, publishing — waits for your consent. Always.</a:t>
            </a:r>
            <a:endParaRPr lang="en-US" sz="1150" dirty="0"/>
          </a:p>
        </p:txBody>
      </p:sp>
      <p:sp>
        <p:nvSpPr>
          <p:cNvPr id="9" name="Shape 7"/>
          <p:cNvSpPr/>
          <p:nvPr/>
        </p:nvSpPr>
        <p:spPr>
          <a:xfrm>
            <a:off x="6126480" y="1143000"/>
            <a:ext cx="2651760" cy="1965960"/>
          </a:xfrm>
          <a:prstGeom prst="roundRect">
            <a:avLst>
              <a:gd name="adj" fmla="val 4651"/>
            </a:avLst>
          </a:prstGeom>
          <a:solidFill>
            <a:srgbClr val="F4FBF0"/>
          </a:solidFill>
          <a:ln/>
          <a:effectLst>
            <a:outerShdw sx="100000" sy="100000" kx="0" ky="0" algn="bl" rotWithShape="0" blurRad="88900" dist="25400" dir="2700000">
              <a:srgbClr val="000000">
                <a:alpha val="14000"/>
              </a:srgbClr>
            </a:outerShdw>
          </a:effectLst>
        </p:spPr>
      </p:sp>
      <p:sp>
        <p:nvSpPr>
          <p:cNvPr id="10" name="Text 8"/>
          <p:cNvSpPr/>
          <p:nvPr/>
        </p:nvSpPr>
        <p:spPr>
          <a:xfrm>
            <a:off x="6355080" y="1325880"/>
            <a:ext cx="2194560" cy="365760"/>
          </a:xfrm>
          <a:prstGeom prst="rect">
            <a:avLst/>
          </a:prstGeom>
          <a:noFill/>
          <a:ln/>
        </p:spPr>
        <p:txBody>
          <a:bodyPr wrap="square" lIns="0" tIns="0" rIns="0" bIns="0" rtlCol="0" anchor="ctr"/>
          <a:lstStyle/>
          <a:p>
            <a:pPr indent="0" marL="0">
              <a:buNone/>
            </a:pPr>
            <a:r>
              <a:rPr lang="en-US" sz="1700" b="1" dirty="0">
                <a:solidFill>
                  <a:srgbClr val="3E5C3A"/>
                </a:solidFill>
                <a:latin typeface="Cambria" pitchFamily="34" charset="0"/>
                <a:ea typeface="Cambria" pitchFamily="34" charset="-122"/>
                <a:cs typeface="Cambria" pitchFamily="34" charset="-120"/>
              </a:rPr>
              <a:t>The intent</a:t>
            </a:r>
            <a:endParaRPr lang="en-US" sz="1700" dirty="0"/>
          </a:p>
        </p:txBody>
      </p:sp>
      <p:sp>
        <p:nvSpPr>
          <p:cNvPr id="11" name="Text 9"/>
          <p:cNvSpPr/>
          <p:nvPr/>
        </p:nvSpPr>
        <p:spPr>
          <a:xfrm>
            <a:off x="6355080" y="1737360"/>
            <a:ext cx="2194560" cy="1280160"/>
          </a:xfrm>
          <a:prstGeom prst="rect">
            <a:avLst/>
          </a:prstGeom>
          <a:noFill/>
          <a:ln/>
        </p:spPr>
        <p:txBody>
          <a:bodyPr wrap="square" lIns="0" tIns="0" rIns="0" bIns="0" rtlCol="0" anchor="t"/>
          <a:lstStyle/>
          <a:p>
            <a:pPr indent="0" marL="0">
              <a:buNone/>
            </a:pPr>
            <a:r>
              <a:rPr lang="en-US" sz="1150" dirty="0">
                <a:solidFill>
                  <a:srgbClr val="5C665A"/>
                </a:solidFill>
                <a:latin typeface="Calibri" pitchFamily="34" charset="0"/>
                <a:ea typeface="Calibri" pitchFamily="34" charset="-122"/>
                <a:cs typeface="Calibri" pitchFamily="34" charset="-120"/>
              </a:rPr>
              <a:t>The one thing no agent can generate: wanting something. Which game gets made. Which story gets told. Which community gets stronger.</a:t>
            </a:r>
            <a:endParaRPr lang="en-US" sz="1150" dirty="0"/>
          </a:p>
        </p:txBody>
      </p:sp>
      <p:sp>
        <p:nvSpPr>
          <p:cNvPr id="12" name="Text 10"/>
          <p:cNvSpPr/>
          <p:nvPr/>
        </p:nvSpPr>
        <p:spPr>
          <a:xfrm>
            <a:off x="457200" y="3520440"/>
            <a:ext cx="8229600" cy="1005840"/>
          </a:xfrm>
          <a:prstGeom prst="rect">
            <a:avLst/>
          </a:prstGeom>
          <a:noFill/>
          <a:ln/>
        </p:spPr>
        <p:txBody>
          <a:bodyPr wrap="square" lIns="0" tIns="0" rIns="0" bIns="0" rtlCol="0" anchor="ctr"/>
          <a:lstStyle/>
          <a:p>
            <a:pPr algn="ctr" indent="0" marL="0">
              <a:buNone/>
            </a:pPr>
            <a:r>
              <a:rPr lang="en-US" sz="2300" b="1" dirty="0">
                <a:solidFill>
                  <a:srgbClr val="17240F"/>
                </a:solidFill>
                <a:latin typeface="Cambria" pitchFamily="34" charset="0"/>
                <a:ea typeface="Cambria" pitchFamily="34" charset="-122"/>
                <a:cs typeface="Cambria" pitchFamily="34" charset="-120"/>
              </a:rPr>
              <a:t>You’re not being automated out of the economy.  </a:t>
            </a:r>
            <a:pPr algn="ctr" indent="0" marL="0">
              <a:buNone/>
            </a:pPr>
            <a:r>
              <a:rPr lang="en-US" sz="2300" b="1" dirty="0">
                <a:solidFill>
                  <a:srgbClr val="3E5C3A"/>
                </a:solidFill>
                <a:latin typeface="Cambria" pitchFamily="34" charset="0"/>
                <a:ea typeface="Cambria" pitchFamily="34" charset="-122"/>
                <a:cs typeface="Cambria" pitchFamily="34" charset="-120"/>
              </a:rPr>
              <a:t>You’re being promoted to founder.</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240F"/>
        </a:solidFill>
      </p:bgPr>
    </p:bg>
    <p:spTree>
      <p:nvGrpSpPr>
        <p:cNvPr id="1" name=""/>
        <p:cNvGrpSpPr/>
        <p:nvPr/>
      </p:nvGrpSpPr>
      <p:grpSpPr>
        <a:xfrm>
          <a:off x="0" y="0"/>
          <a:ext cx="0" cy="0"/>
          <a:chOff x="0" y="0"/>
          <a:chExt cx="0" cy="0"/>
        </a:xfrm>
      </p:grpSpPr>
      <p:sp>
        <p:nvSpPr>
          <p:cNvPr id="2" name="Shape 0"/>
          <p:cNvSpPr/>
          <p:nvPr/>
        </p:nvSpPr>
        <p:spPr>
          <a:xfrm>
            <a:off x="1055218" y="1041319"/>
            <a:ext cx="499262" cy="199705"/>
          </a:xfrm>
          <a:prstGeom prst="line">
            <a:avLst/>
          </a:prstGeom>
          <a:noFill/>
          <a:ln w="15240">
            <a:solidFill>
              <a:srgbClr val="7FA06B"/>
            </a:solidFill>
            <a:prstDash val="solid"/>
          </a:ln>
        </p:spPr>
      </p:sp>
      <p:sp>
        <p:nvSpPr>
          <p:cNvPr id="3" name="Shape 1"/>
          <p:cNvSpPr/>
          <p:nvPr/>
        </p:nvSpPr>
        <p:spPr>
          <a:xfrm>
            <a:off x="1554480" y="1041319"/>
            <a:ext cx="0" cy="199705"/>
          </a:xfrm>
          <a:prstGeom prst="line">
            <a:avLst/>
          </a:prstGeom>
          <a:noFill/>
          <a:ln w="15240">
            <a:solidFill>
              <a:srgbClr val="7FA06B"/>
            </a:solidFill>
            <a:prstDash val="solid"/>
          </a:ln>
        </p:spPr>
      </p:sp>
      <p:sp>
        <p:nvSpPr>
          <p:cNvPr id="4" name="Shape 2"/>
          <p:cNvSpPr/>
          <p:nvPr/>
        </p:nvSpPr>
        <p:spPr>
          <a:xfrm flipH="1">
            <a:off x="1554480" y="1041319"/>
            <a:ext cx="499262" cy="199705"/>
          </a:xfrm>
          <a:prstGeom prst="line">
            <a:avLst/>
          </a:prstGeom>
          <a:noFill/>
          <a:ln w="15240">
            <a:solidFill>
              <a:srgbClr val="7FA06B"/>
            </a:solidFill>
            <a:prstDash val="solid"/>
          </a:ln>
        </p:spPr>
      </p:sp>
      <p:sp>
        <p:nvSpPr>
          <p:cNvPr id="5" name="Shape 3"/>
          <p:cNvSpPr/>
          <p:nvPr/>
        </p:nvSpPr>
        <p:spPr>
          <a:xfrm>
            <a:off x="865022" y="717987"/>
            <a:ext cx="190195" cy="199705"/>
          </a:xfrm>
          <a:prstGeom prst="line">
            <a:avLst/>
          </a:prstGeom>
          <a:noFill/>
          <a:ln w="12700">
            <a:solidFill>
              <a:srgbClr val="7FA06B"/>
            </a:solidFill>
            <a:prstDash val="solid"/>
          </a:ln>
        </p:spPr>
      </p:sp>
      <p:sp>
        <p:nvSpPr>
          <p:cNvPr id="6" name="Shape 4"/>
          <p:cNvSpPr/>
          <p:nvPr/>
        </p:nvSpPr>
        <p:spPr>
          <a:xfrm flipH="1">
            <a:off x="1055218" y="717987"/>
            <a:ext cx="190195" cy="199705"/>
          </a:xfrm>
          <a:prstGeom prst="line">
            <a:avLst/>
          </a:prstGeom>
          <a:noFill/>
          <a:ln w="12700">
            <a:solidFill>
              <a:srgbClr val="7FA06B"/>
            </a:solidFill>
            <a:prstDash val="solid"/>
          </a:ln>
        </p:spPr>
      </p:sp>
      <p:sp>
        <p:nvSpPr>
          <p:cNvPr id="7" name="Shape 5"/>
          <p:cNvSpPr/>
          <p:nvPr/>
        </p:nvSpPr>
        <p:spPr>
          <a:xfrm>
            <a:off x="1554480" y="717987"/>
            <a:ext cx="0" cy="199705"/>
          </a:xfrm>
          <a:prstGeom prst="line">
            <a:avLst/>
          </a:prstGeom>
          <a:noFill/>
          <a:ln w="12700">
            <a:solidFill>
              <a:srgbClr val="7FA06B"/>
            </a:solidFill>
            <a:prstDash val="solid"/>
          </a:ln>
        </p:spPr>
      </p:sp>
      <p:sp>
        <p:nvSpPr>
          <p:cNvPr id="8" name="Shape 6"/>
          <p:cNvSpPr/>
          <p:nvPr/>
        </p:nvSpPr>
        <p:spPr>
          <a:xfrm>
            <a:off x="1863547" y="717987"/>
            <a:ext cx="190195" cy="199705"/>
          </a:xfrm>
          <a:prstGeom prst="line">
            <a:avLst/>
          </a:prstGeom>
          <a:noFill/>
          <a:ln w="12700">
            <a:solidFill>
              <a:srgbClr val="7FA06B"/>
            </a:solidFill>
            <a:prstDash val="solid"/>
          </a:ln>
        </p:spPr>
      </p:sp>
      <p:sp>
        <p:nvSpPr>
          <p:cNvPr id="9" name="Shape 7"/>
          <p:cNvSpPr/>
          <p:nvPr/>
        </p:nvSpPr>
        <p:spPr>
          <a:xfrm flipH="1">
            <a:off x="2053742" y="717987"/>
            <a:ext cx="190195" cy="199705"/>
          </a:xfrm>
          <a:prstGeom prst="line">
            <a:avLst/>
          </a:prstGeom>
          <a:noFill/>
          <a:ln w="12700">
            <a:solidFill>
              <a:srgbClr val="7FA06B"/>
            </a:solidFill>
            <a:prstDash val="solid"/>
          </a:ln>
        </p:spPr>
      </p:sp>
      <p:sp>
        <p:nvSpPr>
          <p:cNvPr id="10" name="Shape 8"/>
          <p:cNvSpPr/>
          <p:nvPr/>
        </p:nvSpPr>
        <p:spPr>
          <a:xfrm>
            <a:off x="746150" y="594360"/>
            <a:ext cx="237744" cy="123627"/>
          </a:xfrm>
          <a:prstGeom prst="roundRect">
            <a:avLst>
              <a:gd name="adj" fmla="val 33333"/>
            </a:avLst>
          </a:prstGeom>
          <a:solidFill>
            <a:srgbClr val="B7D89A"/>
          </a:solidFill>
          <a:ln/>
        </p:spPr>
      </p:sp>
      <p:sp>
        <p:nvSpPr>
          <p:cNvPr id="11" name="Shape 9"/>
          <p:cNvSpPr/>
          <p:nvPr/>
        </p:nvSpPr>
        <p:spPr>
          <a:xfrm>
            <a:off x="1126541" y="594360"/>
            <a:ext cx="237744" cy="123627"/>
          </a:xfrm>
          <a:prstGeom prst="roundRect">
            <a:avLst>
              <a:gd name="adj" fmla="val 33333"/>
            </a:avLst>
          </a:prstGeom>
          <a:solidFill>
            <a:srgbClr val="B7D89A"/>
          </a:solidFill>
          <a:ln/>
        </p:spPr>
      </p:sp>
      <p:sp>
        <p:nvSpPr>
          <p:cNvPr id="12" name="Shape 10"/>
          <p:cNvSpPr/>
          <p:nvPr/>
        </p:nvSpPr>
        <p:spPr>
          <a:xfrm>
            <a:off x="1435608" y="594360"/>
            <a:ext cx="237744" cy="123627"/>
          </a:xfrm>
          <a:prstGeom prst="roundRect">
            <a:avLst>
              <a:gd name="adj" fmla="val 33333"/>
            </a:avLst>
          </a:prstGeom>
          <a:solidFill>
            <a:srgbClr val="B7D89A"/>
          </a:solidFill>
          <a:ln/>
        </p:spPr>
      </p:sp>
      <p:sp>
        <p:nvSpPr>
          <p:cNvPr id="13" name="Shape 11"/>
          <p:cNvSpPr/>
          <p:nvPr/>
        </p:nvSpPr>
        <p:spPr>
          <a:xfrm>
            <a:off x="1744675" y="594360"/>
            <a:ext cx="237744" cy="123627"/>
          </a:xfrm>
          <a:prstGeom prst="roundRect">
            <a:avLst>
              <a:gd name="adj" fmla="val 33333"/>
            </a:avLst>
          </a:prstGeom>
          <a:solidFill>
            <a:srgbClr val="B7D89A"/>
          </a:solidFill>
          <a:ln/>
        </p:spPr>
      </p:sp>
      <p:sp>
        <p:nvSpPr>
          <p:cNvPr id="14" name="Shape 12"/>
          <p:cNvSpPr/>
          <p:nvPr/>
        </p:nvSpPr>
        <p:spPr>
          <a:xfrm>
            <a:off x="2125066" y="594360"/>
            <a:ext cx="237744" cy="123627"/>
          </a:xfrm>
          <a:prstGeom prst="roundRect">
            <a:avLst>
              <a:gd name="adj" fmla="val 33333"/>
            </a:avLst>
          </a:prstGeom>
          <a:solidFill>
            <a:srgbClr val="B7D89A"/>
          </a:solidFill>
          <a:ln/>
        </p:spPr>
      </p:sp>
      <p:sp>
        <p:nvSpPr>
          <p:cNvPr id="15" name="Shape 13"/>
          <p:cNvSpPr/>
          <p:nvPr/>
        </p:nvSpPr>
        <p:spPr>
          <a:xfrm>
            <a:off x="936346" y="917692"/>
            <a:ext cx="237744" cy="123627"/>
          </a:xfrm>
          <a:prstGeom prst="roundRect">
            <a:avLst>
              <a:gd name="adj" fmla="val 33333"/>
            </a:avLst>
          </a:prstGeom>
          <a:solidFill>
            <a:srgbClr val="5B7F52"/>
          </a:solidFill>
          <a:ln/>
        </p:spPr>
      </p:sp>
      <p:sp>
        <p:nvSpPr>
          <p:cNvPr id="16" name="Shape 14"/>
          <p:cNvSpPr/>
          <p:nvPr/>
        </p:nvSpPr>
        <p:spPr>
          <a:xfrm>
            <a:off x="1435608" y="917692"/>
            <a:ext cx="237744" cy="123627"/>
          </a:xfrm>
          <a:prstGeom prst="roundRect">
            <a:avLst>
              <a:gd name="adj" fmla="val 33333"/>
            </a:avLst>
          </a:prstGeom>
          <a:solidFill>
            <a:srgbClr val="5B7F52"/>
          </a:solidFill>
          <a:ln/>
        </p:spPr>
      </p:sp>
      <p:sp>
        <p:nvSpPr>
          <p:cNvPr id="17" name="Shape 15"/>
          <p:cNvSpPr/>
          <p:nvPr/>
        </p:nvSpPr>
        <p:spPr>
          <a:xfrm>
            <a:off x="1934870" y="917692"/>
            <a:ext cx="237744" cy="123627"/>
          </a:xfrm>
          <a:prstGeom prst="roundRect">
            <a:avLst>
              <a:gd name="adj" fmla="val 33333"/>
            </a:avLst>
          </a:prstGeom>
          <a:solidFill>
            <a:srgbClr val="5B7F52"/>
          </a:solidFill>
          <a:ln/>
        </p:spPr>
      </p:sp>
      <p:sp>
        <p:nvSpPr>
          <p:cNvPr id="18" name="Shape 16"/>
          <p:cNvSpPr/>
          <p:nvPr/>
        </p:nvSpPr>
        <p:spPr>
          <a:xfrm>
            <a:off x="1435608" y="1241024"/>
            <a:ext cx="237744" cy="123627"/>
          </a:xfrm>
          <a:prstGeom prst="roundRect">
            <a:avLst>
              <a:gd name="adj" fmla="val 33333"/>
            </a:avLst>
          </a:prstGeom>
          <a:solidFill>
            <a:srgbClr val="D8A03A"/>
          </a:solidFill>
          <a:ln/>
        </p:spPr>
      </p:sp>
      <p:sp>
        <p:nvSpPr>
          <p:cNvPr id="19" name="Shape 17"/>
          <p:cNvSpPr/>
          <p:nvPr/>
        </p:nvSpPr>
        <p:spPr>
          <a:xfrm>
            <a:off x="3899916" y="1058875"/>
            <a:ext cx="672084" cy="268834"/>
          </a:xfrm>
          <a:prstGeom prst="line">
            <a:avLst/>
          </a:prstGeom>
          <a:noFill/>
          <a:ln w="15240">
            <a:solidFill>
              <a:srgbClr val="7FA06B"/>
            </a:solidFill>
            <a:prstDash val="solid"/>
          </a:ln>
        </p:spPr>
      </p:sp>
      <p:sp>
        <p:nvSpPr>
          <p:cNvPr id="20" name="Shape 18"/>
          <p:cNvSpPr/>
          <p:nvPr/>
        </p:nvSpPr>
        <p:spPr>
          <a:xfrm>
            <a:off x="4572000" y="1058875"/>
            <a:ext cx="0" cy="268834"/>
          </a:xfrm>
          <a:prstGeom prst="line">
            <a:avLst/>
          </a:prstGeom>
          <a:noFill/>
          <a:ln w="15240">
            <a:solidFill>
              <a:srgbClr val="7FA06B"/>
            </a:solidFill>
            <a:prstDash val="solid"/>
          </a:ln>
        </p:spPr>
      </p:sp>
      <p:sp>
        <p:nvSpPr>
          <p:cNvPr id="21" name="Shape 19"/>
          <p:cNvSpPr/>
          <p:nvPr/>
        </p:nvSpPr>
        <p:spPr>
          <a:xfrm flipH="1">
            <a:off x="4572000" y="1058875"/>
            <a:ext cx="672084" cy="268834"/>
          </a:xfrm>
          <a:prstGeom prst="line">
            <a:avLst/>
          </a:prstGeom>
          <a:noFill/>
          <a:ln w="15240">
            <a:solidFill>
              <a:srgbClr val="7FA06B"/>
            </a:solidFill>
            <a:prstDash val="solid"/>
          </a:ln>
        </p:spPr>
      </p:sp>
      <p:sp>
        <p:nvSpPr>
          <p:cNvPr id="22" name="Shape 20"/>
          <p:cNvSpPr/>
          <p:nvPr/>
        </p:nvSpPr>
        <p:spPr>
          <a:xfrm>
            <a:off x="3643884" y="623621"/>
            <a:ext cx="256032" cy="268834"/>
          </a:xfrm>
          <a:prstGeom prst="line">
            <a:avLst/>
          </a:prstGeom>
          <a:noFill/>
          <a:ln w="12700">
            <a:solidFill>
              <a:srgbClr val="7FA06B"/>
            </a:solidFill>
            <a:prstDash val="solid"/>
          </a:ln>
        </p:spPr>
      </p:sp>
      <p:sp>
        <p:nvSpPr>
          <p:cNvPr id="23" name="Shape 21"/>
          <p:cNvSpPr/>
          <p:nvPr/>
        </p:nvSpPr>
        <p:spPr>
          <a:xfrm flipH="1">
            <a:off x="3899916" y="623621"/>
            <a:ext cx="256032" cy="268834"/>
          </a:xfrm>
          <a:prstGeom prst="line">
            <a:avLst/>
          </a:prstGeom>
          <a:noFill/>
          <a:ln w="12700">
            <a:solidFill>
              <a:srgbClr val="7FA06B"/>
            </a:solidFill>
            <a:prstDash val="solid"/>
          </a:ln>
        </p:spPr>
      </p:sp>
      <p:sp>
        <p:nvSpPr>
          <p:cNvPr id="24" name="Shape 22"/>
          <p:cNvSpPr/>
          <p:nvPr/>
        </p:nvSpPr>
        <p:spPr>
          <a:xfrm>
            <a:off x="4572000" y="623621"/>
            <a:ext cx="0" cy="268834"/>
          </a:xfrm>
          <a:prstGeom prst="line">
            <a:avLst/>
          </a:prstGeom>
          <a:noFill/>
          <a:ln w="12700">
            <a:solidFill>
              <a:srgbClr val="7FA06B"/>
            </a:solidFill>
            <a:prstDash val="solid"/>
          </a:ln>
        </p:spPr>
      </p:sp>
      <p:sp>
        <p:nvSpPr>
          <p:cNvPr id="25" name="Shape 23"/>
          <p:cNvSpPr/>
          <p:nvPr/>
        </p:nvSpPr>
        <p:spPr>
          <a:xfrm>
            <a:off x="4988052" y="623621"/>
            <a:ext cx="256032" cy="268834"/>
          </a:xfrm>
          <a:prstGeom prst="line">
            <a:avLst/>
          </a:prstGeom>
          <a:noFill/>
          <a:ln w="12700">
            <a:solidFill>
              <a:srgbClr val="7FA06B"/>
            </a:solidFill>
            <a:prstDash val="solid"/>
          </a:ln>
        </p:spPr>
      </p:sp>
      <p:sp>
        <p:nvSpPr>
          <p:cNvPr id="26" name="Shape 24"/>
          <p:cNvSpPr/>
          <p:nvPr/>
        </p:nvSpPr>
        <p:spPr>
          <a:xfrm flipH="1">
            <a:off x="5244084" y="623621"/>
            <a:ext cx="256032" cy="268834"/>
          </a:xfrm>
          <a:prstGeom prst="line">
            <a:avLst/>
          </a:prstGeom>
          <a:noFill/>
          <a:ln w="12700">
            <a:solidFill>
              <a:srgbClr val="7FA06B"/>
            </a:solidFill>
            <a:prstDash val="solid"/>
          </a:ln>
        </p:spPr>
      </p:sp>
      <p:sp>
        <p:nvSpPr>
          <p:cNvPr id="27" name="Shape 25"/>
          <p:cNvSpPr/>
          <p:nvPr/>
        </p:nvSpPr>
        <p:spPr>
          <a:xfrm>
            <a:off x="3483864" y="457200"/>
            <a:ext cx="320040" cy="166421"/>
          </a:xfrm>
          <a:prstGeom prst="roundRect">
            <a:avLst>
              <a:gd name="adj" fmla="val 32967"/>
            </a:avLst>
          </a:prstGeom>
          <a:solidFill>
            <a:srgbClr val="B7D89A"/>
          </a:solidFill>
          <a:ln/>
        </p:spPr>
      </p:sp>
      <p:sp>
        <p:nvSpPr>
          <p:cNvPr id="28" name="Shape 26"/>
          <p:cNvSpPr/>
          <p:nvPr/>
        </p:nvSpPr>
        <p:spPr>
          <a:xfrm>
            <a:off x="3995928" y="457200"/>
            <a:ext cx="320040" cy="166421"/>
          </a:xfrm>
          <a:prstGeom prst="roundRect">
            <a:avLst>
              <a:gd name="adj" fmla="val 32967"/>
            </a:avLst>
          </a:prstGeom>
          <a:solidFill>
            <a:srgbClr val="B7D89A"/>
          </a:solidFill>
          <a:ln/>
        </p:spPr>
      </p:sp>
      <p:sp>
        <p:nvSpPr>
          <p:cNvPr id="29" name="Shape 27"/>
          <p:cNvSpPr/>
          <p:nvPr/>
        </p:nvSpPr>
        <p:spPr>
          <a:xfrm>
            <a:off x="4411980" y="457200"/>
            <a:ext cx="320040" cy="166421"/>
          </a:xfrm>
          <a:prstGeom prst="roundRect">
            <a:avLst>
              <a:gd name="adj" fmla="val 32967"/>
            </a:avLst>
          </a:prstGeom>
          <a:solidFill>
            <a:srgbClr val="B7D89A"/>
          </a:solidFill>
          <a:ln/>
        </p:spPr>
      </p:sp>
      <p:sp>
        <p:nvSpPr>
          <p:cNvPr id="30" name="Shape 28"/>
          <p:cNvSpPr/>
          <p:nvPr/>
        </p:nvSpPr>
        <p:spPr>
          <a:xfrm>
            <a:off x="4828032" y="457200"/>
            <a:ext cx="320040" cy="166421"/>
          </a:xfrm>
          <a:prstGeom prst="roundRect">
            <a:avLst>
              <a:gd name="adj" fmla="val 32967"/>
            </a:avLst>
          </a:prstGeom>
          <a:solidFill>
            <a:srgbClr val="B7D89A"/>
          </a:solidFill>
          <a:ln/>
        </p:spPr>
      </p:sp>
      <p:sp>
        <p:nvSpPr>
          <p:cNvPr id="31" name="Shape 29"/>
          <p:cNvSpPr/>
          <p:nvPr/>
        </p:nvSpPr>
        <p:spPr>
          <a:xfrm>
            <a:off x="5340096" y="457200"/>
            <a:ext cx="320040" cy="166421"/>
          </a:xfrm>
          <a:prstGeom prst="roundRect">
            <a:avLst>
              <a:gd name="adj" fmla="val 32967"/>
            </a:avLst>
          </a:prstGeom>
          <a:solidFill>
            <a:srgbClr val="B7D89A"/>
          </a:solidFill>
          <a:ln/>
        </p:spPr>
      </p:sp>
      <p:sp>
        <p:nvSpPr>
          <p:cNvPr id="32" name="Shape 30"/>
          <p:cNvSpPr/>
          <p:nvPr/>
        </p:nvSpPr>
        <p:spPr>
          <a:xfrm>
            <a:off x="3739896" y="892454"/>
            <a:ext cx="320040" cy="166421"/>
          </a:xfrm>
          <a:prstGeom prst="roundRect">
            <a:avLst>
              <a:gd name="adj" fmla="val 32967"/>
            </a:avLst>
          </a:prstGeom>
          <a:solidFill>
            <a:srgbClr val="5B7F52"/>
          </a:solidFill>
          <a:ln/>
        </p:spPr>
      </p:sp>
      <p:sp>
        <p:nvSpPr>
          <p:cNvPr id="33" name="Shape 31"/>
          <p:cNvSpPr/>
          <p:nvPr/>
        </p:nvSpPr>
        <p:spPr>
          <a:xfrm>
            <a:off x="4411980" y="892454"/>
            <a:ext cx="320040" cy="166421"/>
          </a:xfrm>
          <a:prstGeom prst="roundRect">
            <a:avLst>
              <a:gd name="adj" fmla="val 32967"/>
            </a:avLst>
          </a:prstGeom>
          <a:solidFill>
            <a:srgbClr val="5B7F52"/>
          </a:solidFill>
          <a:ln/>
        </p:spPr>
      </p:sp>
      <p:sp>
        <p:nvSpPr>
          <p:cNvPr id="34" name="Shape 32"/>
          <p:cNvSpPr/>
          <p:nvPr/>
        </p:nvSpPr>
        <p:spPr>
          <a:xfrm>
            <a:off x="5084064" y="892454"/>
            <a:ext cx="320040" cy="166421"/>
          </a:xfrm>
          <a:prstGeom prst="roundRect">
            <a:avLst>
              <a:gd name="adj" fmla="val 32967"/>
            </a:avLst>
          </a:prstGeom>
          <a:solidFill>
            <a:srgbClr val="5B7F52"/>
          </a:solidFill>
          <a:ln/>
        </p:spPr>
      </p:sp>
      <p:sp>
        <p:nvSpPr>
          <p:cNvPr id="35" name="Shape 33"/>
          <p:cNvSpPr/>
          <p:nvPr/>
        </p:nvSpPr>
        <p:spPr>
          <a:xfrm>
            <a:off x="4411980" y="1327709"/>
            <a:ext cx="320040" cy="166421"/>
          </a:xfrm>
          <a:prstGeom prst="roundRect">
            <a:avLst>
              <a:gd name="adj" fmla="val 32967"/>
            </a:avLst>
          </a:prstGeom>
          <a:solidFill>
            <a:srgbClr val="D8A03A"/>
          </a:solidFill>
          <a:ln/>
        </p:spPr>
      </p:sp>
      <p:sp>
        <p:nvSpPr>
          <p:cNvPr id="36" name="Shape 34"/>
          <p:cNvSpPr/>
          <p:nvPr/>
        </p:nvSpPr>
        <p:spPr>
          <a:xfrm>
            <a:off x="7157466" y="1026871"/>
            <a:ext cx="432054" cy="172822"/>
          </a:xfrm>
          <a:prstGeom prst="line">
            <a:avLst/>
          </a:prstGeom>
          <a:noFill/>
          <a:ln w="15240">
            <a:solidFill>
              <a:srgbClr val="7FA06B"/>
            </a:solidFill>
            <a:prstDash val="solid"/>
          </a:ln>
        </p:spPr>
      </p:sp>
      <p:sp>
        <p:nvSpPr>
          <p:cNvPr id="37" name="Shape 35"/>
          <p:cNvSpPr/>
          <p:nvPr/>
        </p:nvSpPr>
        <p:spPr>
          <a:xfrm>
            <a:off x="7589520" y="1026871"/>
            <a:ext cx="0" cy="172822"/>
          </a:xfrm>
          <a:prstGeom prst="line">
            <a:avLst/>
          </a:prstGeom>
          <a:noFill/>
          <a:ln w="15240">
            <a:solidFill>
              <a:srgbClr val="7FA06B"/>
            </a:solidFill>
            <a:prstDash val="solid"/>
          </a:ln>
        </p:spPr>
      </p:sp>
      <p:sp>
        <p:nvSpPr>
          <p:cNvPr id="38" name="Shape 36"/>
          <p:cNvSpPr/>
          <p:nvPr/>
        </p:nvSpPr>
        <p:spPr>
          <a:xfrm flipH="1">
            <a:off x="7589520" y="1026871"/>
            <a:ext cx="432054" cy="172822"/>
          </a:xfrm>
          <a:prstGeom prst="line">
            <a:avLst/>
          </a:prstGeom>
          <a:noFill/>
          <a:ln w="15240">
            <a:solidFill>
              <a:srgbClr val="7FA06B"/>
            </a:solidFill>
            <a:prstDash val="solid"/>
          </a:ln>
        </p:spPr>
      </p:sp>
      <p:sp>
        <p:nvSpPr>
          <p:cNvPr id="39" name="Shape 37"/>
          <p:cNvSpPr/>
          <p:nvPr/>
        </p:nvSpPr>
        <p:spPr>
          <a:xfrm>
            <a:off x="6992874" y="747065"/>
            <a:ext cx="164592" cy="172822"/>
          </a:xfrm>
          <a:prstGeom prst="line">
            <a:avLst/>
          </a:prstGeom>
          <a:noFill/>
          <a:ln w="12700">
            <a:solidFill>
              <a:srgbClr val="7FA06B"/>
            </a:solidFill>
            <a:prstDash val="solid"/>
          </a:ln>
        </p:spPr>
      </p:sp>
      <p:sp>
        <p:nvSpPr>
          <p:cNvPr id="40" name="Shape 38"/>
          <p:cNvSpPr/>
          <p:nvPr/>
        </p:nvSpPr>
        <p:spPr>
          <a:xfrm flipH="1">
            <a:off x="7157466" y="747065"/>
            <a:ext cx="164592" cy="172822"/>
          </a:xfrm>
          <a:prstGeom prst="line">
            <a:avLst/>
          </a:prstGeom>
          <a:noFill/>
          <a:ln w="12700">
            <a:solidFill>
              <a:srgbClr val="7FA06B"/>
            </a:solidFill>
            <a:prstDash val="solid"/>
          </a:ln>
        </p:spPr>
      </p:sp>
      <p:sp>
        <p:nvSpPr>
          <p:cNvPr id="41" name="Shape 39"/>
          <p:cNvSpPr/>
          <p:nvPr/>
        </p:nvSpPr>
        <p:spPr>
          <a:xfrm>
            <a:off x="7589520" y="747065"/>
            <a:ext cx="0" cy="172822"/>
          </a:xfrm>
          <a:prstGeom prst="line">
            <a:avLst/>
          </a:prstGeom>
          <a:noFill/>
          <a:ln w="12700">
            <a:solidFill>
              <a:srgbClr val="7FA06B"/>
            </a:solidFill>
            <a:prstDash val="solid"/>
          </a:ln>
        </p:spPr>
      </p:sp>
      <p:sp>
        <p:nvSpPr>
          <p:cNvPr id="42" name="Shape 40"/>
          <p:cNvSpPr/>
          <p:nvPr/>
        </p:nvSpPr>
        <p:spPr>
          <a:xfrm>
            <a:off x="7856982" y="747065"/>
            <a:ext cx="164592" cy="172822"/>
          </a:xfrm>
          <a:prstGeom prst="line">
            <a:avLst/>
          </a:prstGeom>
          <a:noFill/>
          <a:ln w="12700">
            <a:solidFill>
              <a:srgbClr val="7FA06B"/>
            </a:solidFill>
            <a:prstDash val="solid"/>
          </a:ln>
        </p:spPr>
      </p:sp>
      <p:sp>
        <p:nvSpPr>
          <p:cNvPr id="43" name="Shape 41"/>
          <p:cNvSpPr/>
          <p:nvPr/>
        </p:nvSpPr>
        <p:spPr>
          <a:xfrm flipH="1">
            <a:off x="8021574" y="747065"/>
            <a:ext cx="164592" cy="172822"/>
          </a:xfrm>
          <a:prstGeom prst="line">
            <a:avLst/>
          </a:prstGeom>
          <a:noFill/>
          <a:ln w="12700">
            <a:solidFill>
              <a:srgbClr val="7FA06B"/>
            </a:solidFill>
            <a:prstDash val="solid"/>
          </a:ln>
        </p:spPr>
      </p:sp>
      <p:sp>
        <p:nvSpPr>
          <p:cNvPr id="44" name="Shape 42"/>
          <p:cNvSpPr/>
          <p:nvPr/>
        </p:nvSpPr>
        <p:spPr>
          <a:xfrm>
            <a:off x="6890004" y="640080"/>
            <a:ext cx="205740" cy="106985"/>
          </a:xfrm>
          <a:prstGeom prst="roundRect">
            <a:avLst>
              <a:gd name="adj" fmla="val 33333"/>
            </a:avLst>
          </a:prstGeom>
          <a:solidFill>
            <a:srgbClr val="B7D89A"/>
          </a:solidFill>
          <a:ln/>
        </p:spPr>
      </p:sp>
      <p:sp>
        <p:nvSpPr>
          <p:cNvPr id="45" name="Shape 43"/>
          <p:cNvSpPr/>
          <p:nvPr/>
        </p:nvSpPr>
        <p:spPr>
          <a:xfrm>
            <a:off x="7219188" y="640080"/>
            <a:ext cx="205740" cy="106985"/>
          </a:xfrm>
          <a:prstGeom prst="roundRect">
            <a:avLst>
              <a:gd name="adj" fmla="val 33333"/>
            </a:avLst>
          </a:prstGeom>
          <a:solidFill>
            <a:srgbClr val="B7D89A"/>
          </a:solidFill>
          <a:ln/>
        </p:spPr>
      </p:sp>
      <p:sp>
        <p:nvSpPr>
          <p:cNvPr id="46" name="Shape 44"/>
          <p:cNvSpPr/>
          <p:nvPr/>
        </p:nvSpPr>
        <p:spPr>
          <a:xfrm>
            <a:off x="7486650" y="640080"/>
            <a:ext cx="205740" cy="106985"/>
          </a:xfrm>
          <a:prstGeom prst="roundRect">
            <a:avLst>
              <a:gd name="adj" fmla="val 33333"/>
            </a:avLst>
          </a:prstGeom>
          <a:solidFill>
            <a:srgbClr val="B7D89A"/>
          </a:solidFill>
          <a:ln/>
        </p:spPr>
      </p:sp>
      <p:sp>
        <p:nvSpPr>
          <p:cNvPr id="47" name="Shape 45"/>
          <p:cNvSpPr/>
          <p:nvPr/>
        </p:nvSpPr>
        <p:spPr>
          <a:xfrm>
            <a:off x="7754112" y="640080"/>
            <a:ext cx="205740" cy="106985"/>
          </a:xfrm>
          <a:prstGeom prst="roundRect">
            <a:avLst>
              <a:gd name="adj" fmla="val 33333"/>
            </a:avLst>
          </a:prstGeom>
          <a:solidFill>
            <a:srgbClr val="B7D89A"/>
          </a:solidFill>
          <a:ln/>
        </p:spPr>
      </p:sp>
      <p:sp>
        <p:nvSpPr>
          <p:cNvPr id="48" name="Shape 46"/>
          <p:cNvSpPr/>
          <p:nvPr/>
        </p:nvSpPr>
        <p:spPr>
          <a:xfrm>
            <a:off x="8083296" y="640080"/>
            <a:ext cx="205740" cy="106985"/>
          </a:xfrm>
          <a:prstGeom prst="roundRect">
            <a:avLst>
              <a:gd name="adj" fmla="val 33333"/>
            </a:avLst>
          </a:prstGeom>
          <a:solidFill>
            <a:srgbClr val="B7D89A"/>
          </a:solidFill>
          <a:ln/>
        </p:spPr>
      </p:sp>
      <p:sp>
        <p:nvSpPr>
          <p:cNvPr id="49" name="Shape 47"/>
          <p:cNvSpPr/>
          <p:nvPr/>
        </p:nvSpPr>
        <p:spPr>
          <a:xfrm>
            <a:off x="7054596" y="919886"/>
            <a:ext cx="205740" cy="106985"/>
          </a:xfrm>
          <a:prstGeom prst="roundRect">
            <a:avLst>
              <a:gd name="adj" fmla="val 33333"/>
            </a:avLst>
          </a:prstGeom>
          <a:solidFill>
            <a:srgbClr val="5B7F52"/>
          </a:solidFill>
          <a:ln/>
        </p:spPr>
      </p:sp>
      <p:sp>
        <p:nvSpPr>
          <p:cNvPr id="50" name="Shape 48"/>
          <p:cNvSpPr/>
          <p:nvPr/>
        </p:nvSpPr>
        <p:spPr>
          <a:xfrm>
            <a:off x="7486650" y="919886"/>
            <a:ext cx="205740" cy="106985"/>
          </a:xfrm>
          <a:prstGeom prst="roundRect">
            <a:avLst>
              <a:gd name="adj" fmla="val 33333"/>
            </a:avLst>
          </a:prstGeom>
          <a:solidFill>
            <a:srgbClr val="5B7F52"/>
          </a:solidFill>
          <a:ln/>
        </p:spPr>
      </p:sp>
      <p:sp>
        <p:nvSpPr>
          <p:cNvPr id="51" name="Shape 49"/>
          <p:cNvSpPr/>
          <p:nvPr/>
        </p:nvSpPr>
        <p:spPr>
          <a:xfrm>
            <a:off x="7918704" y="919886"/>
            <a:ext cx="205740" cy="106985"/>
          </a:xfrm>
          <a:prstGeom prst="roundRect">
            <a:avLst>
              <a:gd name="adj" fmla="val 33333"/>
            </a:avLst>
          </a:prstGeom>
          <a:solidFill>
            <a:srgbClr val="5B7F52"/>
          </a:solidFill>
          <a:ln/>
        </p:spPr>
      </p:sp>
      <p:sp>
        <p:nvSpPr>
          <p:cNvPr id="52" name="Shape 50"/>
          <p:cNvSpPr/>
          <p:nvPr/>
        </p:nvSpPr>
        <p:spPr>
          <a:xfrm>
            <a:off x="7486650" y="1199693"/>
            <a:ext cx="205740" cy="106985"/>
          </a:xfrm>
          <a:prstGeom prst="roundRect">
            <a:avLst>
              <a:gd name="adj" fmla="val 33333"/>
            </a:avLst>
          </a:prstGeom>
          <a:solidFill>
            <a:srgbClr val="D8A03A"/>
          </a:solidFill>
          <a:ln/>
        </p:spPr>
      </p:sp>
      <p:sp>
        <p:nvSpPr>
          <p:cNvPr id="53" name="Text 51"/>
          <p:cNvSpPr/>
          <p:nvPr/>
        </p:nvSpPr>
        <p:spPr>
          <a:xfrm>
            <a:off x="914400" y="2377440"/>
            <a:ext cx="7315200" cy="731520"/>
          </a:xfrm>
          <a:prstGeom prst="rect">
            <a:avLst/>
          </a:prstGeom>
          <a:noFill/>
          <a:ln/>
        </p:spPr>
        <p:txBody>
          <a:bodyPr wrap="square" lIns="0" tIns="0" rIns="0" bIns="0" rtlCol="0" anchor="ctr"/>
          <a:lstStyle/>
          <a:p>
            <a:pPr algn="ctr" indent="0" marL="0">
              <a:buNone/>
            </a:pPr>
            <a:r>
              <a:rPr lang="en-US" sz="1700" i="1" dirty="0">
                <a:solidFill>
                  <a:srgbClr val="B7D89A"/>
                </a:solidFill>
                <a:latin typeface="Calibri" pitchFamily="34" charset="0"/>
                <a:ea typeface="Calibri" pitchFamily="34" charset="-122"/>
                <a:cs typeface="Calibri" pitchFamily="34" charset="-120"/>
              </a:rPr>
              <a:t>A million one-person organizations, each shaped exactly like its founder’s ambition.</a:t>
            </a:r>
            <a:endParaRPr lang="en-US" sz="1700" dirty="0"/>
          </a:p>
        </p:txBody>
      </p:sp>
      <p:sp>
        <p:nvSpPr>
          <p:cNvPr id="54" name="Text 52"/>
          <p:cNvSpPr/>
          <p:nvPr/>
        </p:nvSpPr>
        <p:spPr>
          <a:xfrm>
            <a:off x="548640" y="3200400"/>
            <a:ext cx="8046720" cy="1371600"/>
          </a:xfrm>
          <a:prstGeom prst="rect">
            <a:avLst/>
          </a:prstGeom>
          <a:noFill/>
          <a:ln/>
        </p:spPr>
        <p:txBody>
          <a:bodyPr wrap="square" lIns="0" tIns="0" rIns="0" bIns="0" rtlCol="0" anchor="ctr"/>
          <a:lstStyle/>
          <a:p>
            <a:pPr algn="ctr" indent="0" marL="0">
              <a:buNone/>
            </a:pPr>
            <a:r>
              <a:rPr lang="en-US" sz="2700" b="1" dirty="0">
                <a:solidFill>
                  <a:srgbClr val="F4FBF0"/>
                </a:solidFill>
                <a:latin typeface="Cambria" pitchFamily="34" charset="0"/>
                <a:ea typeface="Cambria" pitchFamily="34" charset="-122"/>
                <a:cs typeface="Cambria" pitchFamily="34" charset="-120"/>
              </a:rPr>
              <a:t>For 150 years, the org chart was the map of who you answered to.</a:t>
            </a:r>
            <a:endParaRPr lang="en-US" sz="2700" dirty="0"/>
          </a:p>
          <a:p>
            <a:pPr algn="ctr" indent="0" marL="0">
              <a:buNone/>
            </a:pPr>
            <a:r>
              <a:rPr lang="en-US" sz="2700" b="1" dirty="0">
                <a:solidFill>
                  <a:srgbClr val="D8A03A"/>
                </a:solidFill>
                <a:latin typeface="Cambria" pitchFamily="34" charset="0"/>
                <a:ea typeface="Cambria" pitchFamily="34" charset="-122"/>
                <a:cs typeface="Cambria" pitchFamily="34" charset="-120"/>
              </a:rPr>
              <a:t>Now it’s the map of what answers to you.</a:t>
            </a:r>
            <a:endParaRPr lang="en-US" sz="2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240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F4FBF0"/>
                </a:solidFill>
                <a:latin typeface="Cambria" pitchFamily="34" charset="0"/>
                <a:ea typeface="Cambria" pitchFamily="34" charset="-122"/>
                <a:cs typeface="Cambria" pitchFamily="34" charset="-120"/>
              </a:rPr>
              <a:t>Where it stands</a:t>
            </a:r>
            <a:endParaRPr lang="en-US" sz="3200" dirty="0"/>
          </a:p>
        </p:txBody>
      </p:sp>
      <p:sp>
        <p:nvSpPr>
          <p:cNvPr id="3" name="Shape 1"/>
          <p:cNvSpPr/>
          <p:nvPr/>
        </p:nvSpPr>
        <p:spPr>
          <a:xfrm>
            <a:off x="457200" y="1097280"/>
            <a:ext cx="2651760" cy="1691640"/>
          </a:xfrm>
          <a:prstGeom prst="roundRect">
            <a:avLst>
              <a:gd name="adj" fmla="val 5405"/>
            </a:avLst>
          </a:prstGeom>
          <a:solidFill>
            <a:srgbClr val="26361F"/>
          </a:solidFill>
          <a:ln w="12700">
            <a:solidFill>
              <a:srgbClr val="3E5C3A"/>
            </a:solidFill>
            <a:prstDash val="solid"/>
          </a:ln>
        </p:spPr>
      </p:sp>
      <p:sp>
        <p:nvSpPr>
          <p:cNvPr id="4" name="Text 2"/>
          <p:cNvSpPr/>
          <p:nvPr/>
        </p:nvSpPr>
        <p:spPr>
          <a:xfrm>
            <a:off x="658368" y="1261872"/>
            <a:ext cx="2286000" cy="320040"/>
          </a:xfrm>
          <a:prstGeom prst="rect">
            <a:avLst/>
          </a:prstGeom>
          <a:noFill/>
          <a:ln/>
        </p:spPr>
        <p:txBody>
          <a:bodyPr wrap="square" lIns="0" tIns="0" rIns="0" bIns="0" rtlCol="0" anchor="ctr"/>
          <a:lstStyle/>
          <a:p>
            <a:pPr indent="0" marL="0">
              <a:buNone/>
            </a:pPr>
            <a:r>
              <a:rPr lang="en-US" sz="1500" b="1" dirty="0">
                <a:solidFill>
                  <a:srgbClr val="F4FBF0"/>
                </a:solidFill>
                <a:latin typeface="Cambria" pitchFamily="34" charset="0"/>
                <a:ea typeface="Cambria" pitchFamily="34" charset="-122"/>
                <a:cs typeface="Cambria" pitchFamily="34" charset="-120"/>
              </a:rPr>
              <a:t>Phase 1 — Build</a:t>
            </a:r>
            <a:endParaRPr lang="en-US" sz="1500" dirty="0"/>
          </a:p>
        </p:txBody>
      </p:sp>
      <p:sp>
        <p:nvSpPr>
          <p:cNvPr id="5" name="Text 3"/>
          <p:cNvSpPr/>
          <p:nvPr/>
        </p:nvSpPr>
        <p:spPr>
          <a:xfrm>
            <a:off x="658368" y="1591056"/>
            <a:ext cx="2286000" cy="274320"/>
          </a:xfrm>
          <a:prstGeom prst="rect">
            <a:avLst/>
          </a:prstGeom>
          <a:noFill/>
          <a:ln/>
        </p:spPr>
        <p:txBody>
          <a:bodyPr wrap="square" lIns="0" tIns="0" rIns="0" bIns="0" rtlCol="0" anchor="ctr"/>
          <a:lstStyle/>
          <a:p>
            <a:pPr indent="0" marL="0">
              <a:buNone/>
            </a:pPr>
            <a:r>
              <a:rPr lang="en-US" sz="1100" b="1" spc="200" kern="0" dirty="0">
                <a:solidFill>
                  <a:srgbClr val="D8A03A"/>
                </a:solidFill>
                <a:latin typeface="Calibri" pitchFamily="34" charset="0"/>
                <a:ea typeface="Calibri" pitchFamily="34" charset="-122"/>
                <a:cs typeface="Calibri" pitchFamily="34" charset="-120"/>
              </a:rPr>
              <a:t>SHIPPED</a:t>
            </a:r>
            <a:endParaRPr lang="en-US" sz="1100" dirty="0"/>
          </a:p>
        </p:txBody>
      </p:sp>
      <p:sp>
        <p:nvSpPr>
          <p:cNvPr id="6" name="Text 4"/>
          <p:cNvSpPr/>
          <p:nvPr/>
        </p:nvSpPr>
        <p:spPr>
          <a:xfrm>
            <a:off x="658368" y="1901952"/>
            <a:ext cx="2286000" cy="822960"/>
          </a:xfrm>
          <a:prstGeom prst="rect">
            <a:avLst/>
          </a:prstGeom>
          <a:noFill/>
          <a:ln/>
        </p:spPr>
        <p:txBody>
          <a:bodyPr wrap="square" lIns="0" tIns="0" rIns="0" bIns="0" rtlCol="0" anchor="t"/>
          <a:lstStyle/>
          <a:p>
            <a:pPr indent="0" marL="0">
              <a:buNone/>
            </a:pPr>
            <a:r>
              <a:rPr lang="en-US" sz="1050" dirty="0">
                <a:solidFill>
                  <a:srgbClr val="7FA06B"/>
                </a:solidFill>
                <a:latin typeface="Calibri" pitchFamily="34" charset="0"/>
                <a:ea typeface="Calibri" pitchFamily="34" charset="-122"/>
                <a:cs typeface="Calibri" pitchFamily="34" charset="-120"/>
              </a:rPr>
              <a:t>The org-chart editor: draw, validate, serialize a runnable organization.</a:t>
            </a:r>
            <a:endParaRPr lang="en-US" sz="1050" dirty="0"/>
          </a:p>
        </p:txBody>
      </p:sp>
      <p:sp>
        <p:nvSpPr>
          <p:cNvPr id="7" name="Shape 5"/>
          <p:cNvSpPr/>
          <p:nvPr/>
        </p:nvSpPr>
        <p:spPr>
          <a:xfrm>
            <a:off x="3291840" y="1097280"/>
            <a:ext cx="2651760" cy="1691640"/>
          </a:xfrm>
          <a:prstGeom prst="roundRect">
            <a:avLst>
              <a:gd name="adj" fmla="val 5405"/>
            </a:avLst>
          </a:prstGeom>
          <a:solidFill>
            <a:srgbClr val="26361F"/>
          </a:solidFill>
          <a:ln w="12700">
            <a:solidFill>
              <a:srgbClr val="3E5C3A"/>
            </a:solidFill>
            <a:prstDash val="solid"/>
          </a:ln>
        </p:spPr>
      </p:sp>
      <p:sp>
        <p:nvSpPr>
          <p:cNvPr id="8" name="Text 6"/>
          <p:cNvSpPr/>
          <p:nvPr/>
        </p:nvSpPr>
        <p:spPr>
          <a:xfrm>
            <a:off x="3493008" y="1261872"/>
            <a:ext cx="2286000" cy="320040"/>
          </a:xfrm>
          <a:prstGeom prst="rect">
            <a:avLst/>
          </a:prstGeom>
          <a:noFill/>
          <a:ln/>
        </p:spPr>
        <p:txBody>
          <a:bodyPr wrap="square" lIns="0" tIns="0" rIns="0" bIns="0" rtlCol="0" anchor="ctr"/>
          <a:lstStyle/>
          <a:p>
            <a:pPr indent="0" marL="0">
              <a:buNone/>
            </a:pPr>
            <a:r>
              <a:rPr lang="en-US" sz="1500" b="1" dirty="0">
                <a:solidFill>
                  <a:srgbClr val="F4FBF0"/>
                </a:solidFill>
                <a:latin typeface="Cambria" pitchFamily="34" charset="0"/>
                <a:ea typeface="Cambria" pitchFamily="34" charset="-122"/>
                <a:cs typeface="Cambria" pitchFamily="34" charset="-120"/>
              </a:rPr>
              <a:t>Phase 2 — Actuate</a:t>
            </a:r>
            <a:endParaRPr lang="en-US" sz="1500" dirty="0"/>
          </a:p>
        </p:txBody>
      </p:sp>
      <p:sp>
        <p:nvSpPr>
          <p:cNvPr id="9" name="Text 7"/>
          <p:cNvSpPr/>
          <p:nvPr/>
        </p:nvSpPr>
        <p:spPr>
          <a:xfrm>
            <a:off x="3493008" y="1591056"/>
            <a:ext cx="2286000" cy="274320"/>
          </a:xfrm>
          <a:prstGeom prst="rect">
            <a:avLst/>
          </a:prstGeom>
          <a:noFill/>
          <a:ln/>
        </p:spPr>
        <p:txBody>
          <a:bodyPr wrap="square" lIns="0" tIns="0" rIns="0" bIns="0" rtlCol="0" anchor="ctr"/>
          <a:lstStyle/>
          <a:p>
            <a:pPr indent="0" marL="0">
              <a:buNone/>
            </a:pPr>
            <a:r>
              <a:rPr lang="en-US" sz="1100" b="1" spc="200" kern="0" dirty="0">
                <a:solidFill>
                  <a:srgbClr val="B7D89A"/>
                </a:solidFill>
                <a:latin typeface="Calibri" pitchFamily="34" charset="0"/>
                <a:ea typeface="Calibri" pitchFamily="34" charset="-122"/>
                <a:cs typeface="Calibri" pitchFamily="34" charset="-120"/>
              </a:rPr>
              <a:t>IN PROGRESS</a:t>
            </a:r>
            <a:endParaRPr lang="en-US" sz="1100" dirty="0"/>
          </a:p>
        </p:txBody>
      </p:sp>
      <p:sp>
        <p:nvSpPr>
          <p:cNvPr id="10" name="Text 8"/>
          <p:cNvSpPr/>
          <p:nvPr/>
        </p:nvSpPr>
        <p:spPr>
          <a:xfrm>
            <a:off x="3493008" y="1901952"/>
            <a:ext cx="2286000" cy="822960"/>
          </a:xfrm>
          <a:prstGeom prst="rect">
            <a:avLst/>
          </a:prstGeom>
          <a:noFill/>
          <a:ln/>
        </p:spPr>
        <p:txBody>
          <a:bodyPr wrap="square" lIns="0" tIns="0" rIns="0" bIns="0" rtlCol="0" anchor="t"/>
          <a:lstStyle/>
          <a:p>
            <a:pPr indent="0" marL="0">
              <a:buNone/>
            </a:pPr>
            <a:r>
              <a:rPr lang="en-US" sz="1050" dirty="0">
                <a:solidFill>
                  <a:srgbClr val="7FA06B"/>
                </a:solidFill>
                <a:latin typeface="Calibri" pitchFamily="34" charset="0"/>
                <a:ea typeface="Calibri" pitchFamily="34" charset="-122"/>
                <a:cs typeface="Calibri" pitchFamily="34" charset="-120"/>
              </a:rPr>
              <a:t>Spin the chart up into live, sandboxed agents — ready and waiting.</a:t>
            </a:r>
            <a:endParaRPr lang="en-US" sz="1050" dirty="0"/>
          </a:p>
        </p:txBody>
      </p:sp>
      <p:sp>
        <p:nvSpPr>
          <p:cNvPr id="11" name="Shape 9"/>
          <p:cNvSpPr/>
          <p:nvPr/>
        </p:nvSpPr>
        <p:spPr>
          <a:xfrm>
            <a:off x="6126480" y="1097280"/>
            <a:ext cx="2651760" cy="1691640"/>
          </a:xfrm>
          <a:prstGeom prst="roundRect">
            <a:avLst>
              <a:gd name="adj" fmla="val 5405"/>
            </a:avLst>
          </a:prstGeom>
          <a:solidFill>
            <a:srgbClr val="26361F"/>
          </a:solidFill>
          <a:ln w="12700">
            <a:solidFill>
              <a:srgbClr val="3E5C3A"/>
            </a:solidFill>
            <a:prstDash val="solid"/>
          </a:ln>
        </p:spPr>
      </p:sp>
      <p:sp>
        <p:nvSpPr>
          <p:cNvPr id="12" name="Text 10"/>
          <p:cNvSpPr/>
          <p:nvPr/>
        </p:nvSpPr>
        <p:spPr>
          <a:xfrm>
            <a:off x="6327648" y="1261872"/>
            <a:ext cx="2286000" cy="320040"/>
          </a:xfrm>
          <a:prstGeom prst="rect">
            <a:avLst/>
          </a:prstGeom>
          <a:noFill/>
          <a:ln/>
        </p:spPr>
        <p:txBody>
          <a:bodyPr wrap="square" lIns="0" tIns="0" rIns="0" bIns="0" rtlCol="0" anchor="ctr"/>
          <a:lstStyle/>
          <a:p>
            <a:pPr indent="0" marL="0">
              <a:buNone/>
            </a:pPr>
            <a:r>
              <a:rPr lang="en-US" sz="1500" b="1" dirty="0">
                <a:solidFill>
                  <a:srgbClr val="F4FBF0"/>
                </a:solidFill>
                <a:latin typeface="Cambria" pitchFamily="34" charset="0"/>
                <a:ea typeface="Cambria" pitchFamily="34" charset="-122"/>
                <a:cs typeface="Cambria" pitchFamily="34" charset="-120"/>
              </a:rPr>
              <a:t>Phase 3 — Execute</a:t>
            </a:r>
            <a:endParaRPr lang="en-US" sz="1500" dirty="0"/>
          </a:p>
        </p:txBody>
      </p:sp>
      <p:sp>
        <p:nvSpPr>
          <p:cNvPr id="13" name="Text 11"/>
          <p:cNvSpPr/>
          <p:nvPr/>
        </p:nvSpPr>
        <p:spPr>
          <a:xfrm>
            <a:off x="6327648" y="1591056"/>
            <a:ext cx="2286000" cy="274320"/>
          </a:xfrm>
          <a:prstGeom prst="rect">
            <a:avLst/>
          </a:prstGeom>
          <a:noFill/>
          <a:ln/>
        </p:spPr>
        <p:txBody>
          <a:bodyPr wrap="square" lIns="0" tIns="0" rIns="0" bIns="0" rtlCol="0" anchor="ctr"/>
          <a:lstStyle/>
          <a:p>
            <a:pPr indent="0" marL="0">
              <a:buNone/>
            </a:pPr>
            <a:r>
              <a:rPr lang="en-US" sz="1100" b="1" spc="200" kern="0" dirty="0">
                <a:solidFill>
                  <a:srgbClr val="7FA06B"/>
                </a:solidFill>
                <a:latin typeface="Calibri" pitchFamily="34" charset="0"/>
                <a:ea typeface="Calibri" pitchFamily="34" charset="-122"/>
                <a:cs typeface="Calibri" pitchFamily="34" charset="-120"/>
              </a:rPr>
              <a:t>DESIGNED</a:t>
            </a:r>
            <a:endParaRPr lang="en-US" sz="1100" dirty="0"/>
          </a:p>
        </p:txBody>
      </p:sp>
      <p:sp>
        <p:nvSpPr>
          <p:cNvPr id="14" name="Text 12"/>
          <p:cNvSpPr/>
          <p:nvPr/>
        </p:nvSpPr>
        <p:spPr>
          <a:xfrm>
            <a:off x="6327648" y="1901952"/>
            <a:ext cx="2286000" cy="822960"/>
          </a:xfrm>
          <a:prstGeom prst="rect">
            <a:avLst/>
          </a:prstGeom>
          <a:noFill/>
          <a:ln/>
        </p:spPr>
        <p:txBody>
          <a:bodyPr wrap="square" lIns="0" tIns="0" rIns="0" bIns="0" rtlCol="0" anchor="t"/>
          <a:lstStyle/>
          <a:p>
            <a:pPr indent="0" marL="0">
              <a:buNone/>
            </a:pPr>
            <a:r>
              <a:rPr lang="en-US" sz="1050" dirty="0">
                <a:solidFill>
                  <a:srgbClr val="7FA06B"/>
                </a:solidFill>
                <a:latin typeface="Calibri" pitchFamily="34" charset="0"/>
                <a:ea typeface="Calibri" pitchFamily="34" charset="-122"/>
                <a:cs typeface="Calibri" pitchFamily="34" charset="-120"/>
              </a:rPr>
              <a:t>The work engine: assignments, gates, budgets, deliverables rolling up.</a:t>
            </a:r>
            <a:endParaRPr lang="en-US" sz="1050" dirty="0"/>
          </a:p>
        </p:txBody>
      </p:sp>
      <p:sp>
        <p:nvSpPr>
          <p:cNvPr id="15" name="Text 13"/>
          <p:cNvSpPr/>
          <p:nvPr/>
        </p:nvSpPr>
        <p:spPr>
          <a:xfrm>
            <a:off x="640080" y="3017520"/>
            <a:ext cx="7863840" cy="685800"/>
          </a:xfrm>
          <a:prstGeom prst="rect">
            <a:avLst/>
          </a:prstGeom>
          <a:noFill/>
          <a:ln/>
        </p:spPr>
        <p:txBody>
          <a:bodyPr wrap="square" lIns="0" tIns="0" rIns="0" bIns="0" rtlCol="0" anchor="ctr"/>
          <a:lstStyle/>
          <a:p>
            <a:pPr algn="ctr" indent="0" marL="0">
              <a:buNone/>
            </a:pPr>
            <a:r>
              <a:rPr lang="en-US" sz="1250" dirty="0">
                <a:solidFill>
                  <a:srgbClr val="B7D89A"/>
                </a:solidFill>
                <a:latin typeface="Calibri" pitchFamily="34" charset="0"/>
                <a:ea typeface="Calibri" pitchFamily="34" charset="-122"/>
                <a:cs typeface="Calibri" pitchFamily="34" charset="-120"/>
              </a:rPr>
              <a:t>Core going open source — a tool for redistributing organizational power shouldn’t have a gatekeeper.  Roles are data, not code: the catalogs of the future — for architects, filmmakers, farmers — get written by people like you.</a:t>
            </a:r>
            <a:endParaRPr lang="en-US" sz="1250" dirty="0"/>
          </a:p>
        </p:txBody>
      </p:sp>
      <p:sp>
        <p:nvSpPr>
          <p:cNvPr id="16" name="Text 14"/>
          <p:cNvSpPr/>
          <p:nvPr/>
        </p:nvSpPr>
        <p:spPr>
          <a:xfrm>
            <a:off x="548640" y="3886200"/>
            <a:ext cx="8046720" cy="914400"/>
          </a:xfrm>
          <a:prstGeom prst="rect">
            <a:avLst/>
          </a:prstGeom>
          <a:noFill/>
          <a:ln/>
        </p:spPr>
        <p:txBody>
          <a:bodyPr wrap="square" lIns="0" tIns="0" rIns="0" bIns="0" rtlCol="0" anchor="ctr"/>
          <a:lstStyle/>
          <a:p>
            <a:pPr algn="ctr" indent="0" marL="0">
              <a:buNone/>
            </a:pPr>
            <a:r>
              <a:rPr lang="en-US" sz="2100" b="1" i="1" dirty="0">
                <a:solidFill>
                  <a:srgbClr val="F4FBF0"/>
                </a:solidFill>
                <a:latin typeface="Cambria" pitchFamily="34" charset="0"/>
                <a:ea typeface="Cambria" pitchFamily="34" charset="-122"/>
                <a:cs typeface="Cambria" pitchFamily="34" charset="-120"/>
              </a:rPr>
              <a:t>Come dream with me. </a:t>
            </a:r>
            <a:pPr algn="ctr" indent="0" marL="0">
              <a:buNone/>
            </a:pPr>
            <a:r>
              <a:rPr lang="en-US" sz="2100" b="1" i="1" dirty="0">
                <a:solidFill>
                  <a:srgbClr val="D8A03A"/>
                </a:solidFill>
                <a:latin typeface="Cambria" pitchFamily="34" charset="0"/>
                <a:ea typeface="Cambria" pitchFamily="34" charset="-122"/>
                <a:cs typeface="Cambria" pitchFamily="34" charset="-120"/>
              </a:rPr>
              <a:t>Bring the organization you always wished you had — and let’s draw it.</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Canopy — Draw an organization. Run it.</dc:title>
  <dc:subject>PptxGenJS Presentation</dc:subject>
  <dc:creator>Madhax</dc:creator>
  <cp:lastModifiedBy>Madhax</cp:lastModifiedBy>
  <cp:revision>1</cp:revision>
  <dcterms:created xsi:type="dcterms:W3CDTF">2026-07-08T04:17:50Z</dcterms:created>
  <dcterms:modified xsi:type="dcterms:W3CDTF">2026-07-08T04:17:50Z</dcterms:modified>
</cp:coreProperties>
</file>